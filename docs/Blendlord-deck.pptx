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Archivo" pitchFamily="34" charset="0"/>
      <p:regular r:id="rId1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Blendlord. Every renter locks one or two months of rent as a deposit, for years, and it earns nothing. We built a neutral escrow on Stellar that puts that deposit to work safely, and gives it back with the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The deposit earns nothing. The landlord holds it, so getting it back is a fight. And escrow services fix the trust problem but the money still sits idle. We fix both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The landlord offers the terms by deploying the agreement. The tenant accepts and locks the deposit in USDC. Up to 80 percent earns yield while they live there, and at least 20 percent always stays liquid. At move-out, a fixed waterfall pays agreed repairs first and everything else goes back to the tenant, with the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decides what matters. The landlord sets what protects them: amount, dates, the arbiter, and a small share of the yield as an incentive to offer Blendlord. The tenant decides everything about their own yield: how much and where. And the contract enforces the floor: 20 percent always liquid, the landlord’s share capped at 5 percent of the yield, never of the deposit.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Composed part. A Soroban escrow is the core. It supplies directly to Blend, and it deposits into our own DeFindex vault, which we created with the DeFindex factory. And an off-chain risk model recommends how much to invest and manages that vault. The tenant signs once; the contract authorizes the nested transfer to the vault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quant layer. A payout is only delayed if two things happen together: the deduction is bigger than the buffer, and the pool can’t return funds that day. That gives a closed-form criterion, which we cross-check with a Monte Carlo of two million leases. [click] Without an early exit, only 51 percent is safe. [click] Adding an unwind in the last 30 days lowers q from 25 to 2 percent, which raises the safe share to 80. The tenant sees this live in the app, with Blend’s current APR, before choosing.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DeFindex and not just Blend twice? Because DeFindex lets us manage the money. We created our own vault. All agreements share it, and our risk model acts as its rebalance manager. On testnet, at 89 percent utilization it invested 18.80 USDC, and when a lease was ten days from ending, it pulled everything back to liquid. And the vault collects our 1 percent fee on yield on-chain. Honest note: on testnet the strategy is the same Blend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mock-up. 48 unit tests, two independent security reviews with every finding fixed and turned into a test, and complete flows on testnet, including a dispute resolved by the arbiter and a deposit split between Blend and DeFindex. Each action costs about 0.003 XLM.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model only touches yield, never the deposit. Tenants keep at least 95 percent. Landlords or agencies get a small agreed share, 3 percent by default and capped at 5 in the contract, which is what makes them offer it. And we earn a 1 percent fee on the reserve’s yield, collected by the vault on-chain. We’d go to market through letting agencies and student residences, who manage many deposits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we’d add a factory with an allow-list, more strategies in the reserve under the same risk budget, and calibrate the model with real data from agencies. Others hold deposits safely; we make them work.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58800"/>
          </a:xfrm>
          <a:prstGeom prst="rect">
            <a:avLst/>
          </a:prstGeom>
          <a:noFill/>
          <a:ln/>
        </p:spPr>
        <p:txBody>
          <a:bodyPr wrap="square" lIns="0" tIns="0" rIns="0" bIns="0" rtlCol="0" anchor="t"/>
          <a:lstStyle>
            <a:lvl1pPr algn="l" indent="0" marL="0">
              <a:lnSpc>
                <a:spcPct val="115000"/>
              </a:lnSpc>
              <a:buNone/>
              <a:defRPr lang="en-US" sz="4000" dirty="0">
                <a:solidFill>
                  <a:srgbClr val="131313"/>
                </a:solidFill>
                <a:latin typeface="Archivo" pitchFamily="34" charset="0"/>
                <a:ea typeface="Archivo" pitchFamily="34" charset="-122"/>
                <a:cs typeface="Archivo"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1676400"/>
            <a:ext cx="10566400" cy="4368800"/>
          </a:xfrm>
          <a:prstGeom prst="rect">
            <a:avLst/>
          </a:prstGeom>
          <a:noFill/>
          <a:ln/>
        </p:spPr>
        <p:txBody>
          <a:bodyPr wrap="square" lIns="0" tIns="0" rIns="0" bIns="0" rtlCol="0" anchor="t"/>
          <a:lstStyle>
            <a:lvl1pPr algn="l" indent="0" marL="0">
              <a:lnSpc>
                <a:spcPct val="140000"/>
              </a:lnSpc>
              <a:buNone/>
              <a:defRPr lang="en-US" sz="1600" dirty="0">
                <a:solidFill>
                  <a:srgbClr val="131313"/>
                </a:solidFill>
                <a:latin typeface="Archivo" pitchFamily="34" charset="0"/>
                <a:ea typeface="Archivo" pitchFamily="34" charset="-122"/>
                <a:cs typeface="Archiv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58800"/>
          </a:xfrm>
          <a:prstGeom prst="rect">
            <a:avLst/>
          </a:prstGeom>
          <a:noFill/>
          <a:ln/>
        </p:spPr>
        <p:txBody>
          <a:bodyPr wrap="square" lIns="0" tIns="0" rIns="0" bIns="0" rtlCol="0" anchor="t"/>
          <a:lstStyle>
            <a:lvl1pPr algn="l" indent="0" marL="0">
              <a:lnSpc>
                <a:spcPct val="115000"/>
              </a:lnSpc>
              <a:buNone/>
              <a:defRPr lang="en-US" sz="4000" dirty="0">
                <a:solidFill>
                  <a:srgbClr val="131313"/>
                </a:solidFill>
                <a:latin typeface="Archivo" pitchFamily="34" charset="0"/>
                <a:ea typeface="Archivo" pitchFamily="34" charset="-122"/>
                <a:cs typeface="Archivo"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1676400"/>
            <a:ext cx="10566400" cy="4368800"/>
          </a:xfrm>
          <a:prstGeom prst="rect">
            <a:avLst/>
          </a:prstGeom>
          <a:noFill/>
          <a:ln/>
        </p:spPr>
        <p:txBody>
          <a:bodyPr wrap="square" lIns="0" tIns="0" rIns="0" bIns="0" rtlCol="0" anchor="t"/>
          <a:lstStyle>
            <a:lvl1pPr algn="l" indent="0" marL="0">
              <a:lnSpc>
                <a:spcPct val="140000"/>
              </a:lnSpc>
              <a:buNone/>
              <a:defRPr lang="en-US" sz="1600" dirty="0">
                <a:solidFill>
                  <a:srgbClr val="131313"/>
                </a:solidFill>
                <a:latin typeface="Archivo" pitchFamily="34" charset="0"/>
                <a:ea typeface="Archivo" pitchFamily="34" charset="-122"/>
                <a:cs typeface="Archiv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313"/>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DDA24"/>
                </a:solidFill>
                <a:latin typeface="Archivo" pitchFamily="34" charset="0"/>
                <a:ea typeface="Archivo" pitchFamily="34" charset="-122"/>
                <a:cs typeface="Archivo" pitchFamily="34" charset="-120"/>
              </a:rPr>
              <a:t>HACKMERIDIAN 2026 · STELLAR COMPOSED</a:t>
            </a:r>
            <a:endParaRPr lang="en-US" sz="1400" dirty="0"/>
          </a:p>
        </p:txBody>
      </p:sp>
      <p:sp>
        <p:nvSpPr>
          <p:cNvPr id="3" name="Text 1"/>
          <p:cNvSpPr/>
          <p:nvPr>
            <p:ph type="title"/>
          </p:nvPr>
        </p:nvSpPr>
        <p:spPr>
          <a:xfrm>
            <a:off x="812800" y="2517180"/>
            <a:ext cx="10883392" cy="1168400"/>
          </a:xfrm>
          <a:prstGeom prst="rect">
            <a:avLst/>
          </a:prstGeom>
          <a:noFill/>
          <a:ln/>
        </p:spPr>
        <p:txBody>
          <a:bodyPr wrap="square" lIns="0" tIns="0" rIns="0" bIns="0" rtlCol="0" anchor="t">
            <a:normAutofit/>
          </a:bodyPr>
          <a:lstStyle/>
          <a:p>
            <a:pPr algn="l" indent="0" marL="0">
              <a:lnSpc>
                <a:spcPts val="9000"/>
              </a:lnSpc>
              <a:buNone/>
            </a:pPr>
            <a:r>
              <a:rPr lang="en-US" sz="9000" b="1" i="0" spc="-200" kern="0" dirty="0">
                <a:solidFill>
                  <a:srgbClr val="F6F5EF"/>
                </a:solidFill>
                <a:latin typeface="Archivo" pitchFamily="34" charset="0"/>
                <a:ea typeface="Archivo" pitchFamily="34" charset="-122"/>
                <a:cs typeface="Archivo" pitchFamily="34" charset="-120"/>
              </a:rPr>
              <a:t>Blendlord</a:t>
            </a:r>
            <a:endParaRPr lang="en-US" sz="9000" dirty="0"/>
          </a:p>
        </p:txBody>
      </p:sp>
      <p:sp>
        <p:nvSpPr>
          <p:cNvPr id="4" name="Text 2"/>
          <p:cNvSpPr/>
          <p:nvPr/>
        </p:nvSpPr>
        <p:spPr>
          <a:xfrm>
            <a:off x="812800" y="3914180"/>
            <a:ext cx="9156700" cy="452041"/>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F6F5EF"/>
                </a:solidFill>
                <a:latin typeface="Archivo" pitchFamily="34" charset="0"/>
                <a:ea typeface="Archivo" pitchFamily="34" charset="-122"/>
                <a:cs typeface="Archivo" pitchFamily="34" charset="-120"/>
              </a:rPr>
              <a:t>Your rental deposit can </a:t>
            </a:r>
            <a:r>
              <a:rPr lang="en-US" sz="2800" dirty="0">
                <a:solidFill>
                  <a:srgbClr val="FDDA24"/>
                </a:solidFill>
                <a:latin typeface="Archivo" pitchFamily="34" charset="0"/>
                <a:ea typeface="Archivo" pitchFamily="34" charset="-122"/>
                <a:cs typeface="Archivo" pitchFamily="34" charset="-120"/>
              </a:rPr>
              <a:t>make you money</a:t>
            </a:r>
            <a:r>
              <a:rPr lang="en-US" sz="2800" dirty="0">
                <a:solidFill>
                  <a:srgbClr val="F6F5EF"/>
                </a:solidFill>
                <a:latin typeface="Archivo" pitchFamily="34" charset="0"/>
                <a:ea typeface="Archivo" pitchFamily="34" charset="-122"/>
                <a:cs typeface="Archivo" pitchFamily="34" charset="-120"/>
              </a:rPr>
              <a:t>.</a:t>
            </a:r>
            <a:endParaRPr lang="en-US" sz="2800" dirty="0"/>
          </a:p>
        </p:txBody>
      </p:sp>
      <p:sp>
        <p:nvSpPr>
          <p:cNvPr id="5" name="Text 3"/>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DBAB0"/>
                </a:solidFill>
                <a:latin typeface="Archivo" pitchFamily="34" charset="0"/>
                <a:ea typeface="Archivo" pitchFamily="34" charset="-122"/>
                <a:cs typeface="Archivo" pitchFamily="34" charset="-120"/>
              </a:rPr>
              <a:t>Yield-bearing rental deposits on Stellar · Soroban escrow + Blend + DeFindex + a risk model · live on testnet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spc="-50" kern="0" dirty="0">
                <a:solidFill>
                  <a:srgbClr val="131313"/>
                </a:solidFill>
                <a:latin typeface="Archivo" pitchFamily="34" charset="0"/>
                <a:ea typeface="Archivo" pitchFamily="34" charset="-122"/>
                <a:cs typeface="Archivo" pitchFamily="34" charset="-120"/>
              </a:rPr>
              <a:t>Today, a deposit is money doing nothing</a:t>
            </a:r>
            <a:endParaRPr lang="en-US" sz="4000" dirty="0"/>
          </a:p>
        </p:txBody>
      </p:sp>
      <p:sp>
        <p:nvSpPr>
          <p:cNvPr id="3" name="Shape 1"/>
          <p:cNvSpPr/>
          <p:nvPr/>
        </p:nvSpPr>
        <p:spPr>
          <a:xfrm>
            <a:off x="819150" y="1835150"/>
            <a:ext cx="3373934" cy="2219920"/>
          </a:xfrm>
          <a:prstGeom prst="roundRect">
            <a:avLst>
              <a:gd name="adj" fmla="val 6579"/>
            </a:avLst>
          </a:prstGeom>
          <a:solidFill>
            <a:srgbClr val="FFFFFF"/>
          </a:solidFill>
          <a:ln w="12700">
            <a:solidFill>
              <a:srgbClr val="131313"/>
            </a:solidFill>
            <a:prstDash val="solid"/>
          </a:ln>
        </p:spPr>
        <p:txBody>
          <a:bodyPr/>
          <a:p/>
        </p:txBody>
      </p:sp>
      <p:sp>
        <p:nvSpPr>
          <p:cNvPr id="4" name="Text 2"/>
          <p:cNvSpPr/>
          <p:nvPr/>
        </p:nvSpPr>
        <p:spPr>
          <a:xfrm>
            <a:off x="1130300" y="2146300"/>
            <a:ext cx="283418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1313"/>
                </a:solidFill>
                <a:latin typeface="Archivo" pitchFamily="34" charset="0"/>
                <a:ea typeface="Archivo" pitchFamily="34" charset="-122"/>
                <a:cs typeface="Archivo" pitchFamily="34" charset="-120"/>
              </a:rPr>
              <a:t>It earns nothing</a:t>
            </a:r>
            <a:endParaRPr lang="en-US" sz="2200" dirty="0"/>
          </a:p>
        </p:txBody>
      </p:sp>
      <p:sp>
        <p:nvSpPr>
          <p:cNvPr id="5" name="Text 3"/>
          <p:cNvSpPr/>
          <p:nvPr/>
        </p:nvSpPr>
        <p:spPr>
          <a:xfrm>
            <a:off x="1130300" y="2608560"/>
            <a:ext cx="283418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5433D"/>
                </a:solidFill>
                <a:latin typeface="Archivo" pitchFamily="34" charset="0"/>
                <a:ea typeface="Archivo" pitchFamily="34" charset="-122"/>
                <a:cs typeface="Archivo" pitchFamily="34" charset="-120"/>
              </a:rPr>
              <a:t>One or two months of rent, locked for years. Not a cent of interest for the tenant.</a:t>
            </a:r>
            <a:endParaRPr lang="en-US" sz="1500" dirty="0"/>
          </a:p>
        </p:txBody>
      </p:sp>
      <p:sp>
        <p:nvSpPr>
          <p:cNvPr id="6" name="Shape 4"/>
          <p:cNvSpPr/>
          <p:nvPr/>
        </p:nvSpPr>
        <p:spPr>
          <a:xfrm>
            <a:off x="4408984" y="1835150"/>
            <a:ext cx="3373934" cy="2219920"/>
          </a:xfrm>
          <a:prstGeom prst="roundRect">
            <a:avLst>
              <a:gd name="adj" fmla="val 6579"/>
            </a:avLst>
          </a:prstGeom>
          <a:solidFill>
            <a:srgbClr val="FFFFFF"/>
          </a:solidFill>
          <a:ln w="12700">
            <a:solidFill>
              <a:srgbClr val="131313"/>
            </a:solidFill>
            <a:prstDash val="solid"/>
          </a:ln>
        </p:spPr>
        <p:txBody>
          <a:bodyPr/>
          <a:p/>
        </p:txBody>
      </p:sp>
      <p:sp>
        <p:nvSpPr>
          <p:cNvPr id="7" name="Text 5"/>
          <p:cNvSpPr/>
          <p:nvPr/>
        </p:nvSpPr>
        <p:spPr>
          <a:xfrm>
            <a:off x="4720134" y="2146300"/>
            <a:ext cx="283418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1313"/>
                </a:solidFill>
                <a:latin typeface="Archivo" pitchFamily="34" charset="0"/>
                <a:ea typeface="Archivo" pitchFamily="34" charset="-122"/>
                <a:cs typeface="Archivo" pitchFamily="34" charset="-120"/>
              </a:rPr>
              <a:t>One side holds it</a:t>
            </a:r>
            <a:endParaRPr lang="en-US" sz="2200" dirty="0"/>
          </a:p>
        </p:txBody>
      </p:sp>
      <p:sp>
        <p:nvSpPr>
          <p:cNvPr id="8" name="Text 6"/>
          <p:cNvSpPr/>
          <p:nvPr/>
        </p:nvSpPr>
        <p:spPr>
          <a:xfrm>
            <a:off x="4720134" y="2608560"/>
            <a:ext cx="2834183"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5433D"/>
                </a:solidFill>
                <a:latin typeface="Archivo" pitchFamily="34" charset="0"/>
                <a:ea typeface="Archivo" pitchFamily="34" charset="-122"/>
                <a:cs typeface="Archivo" pitchFamily="34" charset="-120"/>
              </a:rPr>
              <a:t>The landlord keeps the cash, so the move-out is a negotiation where one side already has the money.</a:t>
            </a:r>
            <a:endParaRPr lang="en-US" sz="1500" dirty="0"/>
          </a:p>
        </p:txBody>
      </p:sp>
      <p:sp>
        <p:nvSpPr>
          <p:cNvPr id="9" name="Shape 7"/>
          <p:cNvSpPr/>
          <p:nvPr/>
        </p:nvSpPr>
        <p:spPr>
          <a:xfrm>
            <a:off x="7998817" y="1835150"/>
            <a:ext cx="3373934" cy="2219920"/>
          </a:xfrm>
          <a:prstGeom prst="roundRect">
            <a:avLst>
              <a:gd name="adj" fmla="val 6579"/>
            </a:avLst>
          </a:prstGeom>
          <a:solidFill>
            <a:srgbClr val="FDDA24"/>
          </a:solidFill>
          <a:ln w="12700">
            <a:solidFill>
              <a:srgbClr val="131313"/>
            </a:solidFill>
            <a:prstDash val="solid"/>
          </a:ln>
        </p:spPr>
        <p:txBody>
          <a:bodyPr/>
          <a:p/>
        </p:txBody>
      </p:sp>
      <p:sp>
        <p:nvSpPr>
          <p:cNvPr id="10" name="Text 8"/>
          <p:cNvSpPr/>
          <p:nvPr/>
        </p:nvSpPr>
        <p:spPr>
          <a:xfrm>
            <a:off x="8309967" y="2146300"/>
            <a:ext cx="2834183"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1313"/>
                </a:solidFill>
                <a:latin typeface="Archivo" pitchFamily="34" charset="0"/>
                <a:ea typeface="Archivo" pitchFamily="34" charset="-122"/>
                <a:cs typeface="Archivo" pitchFamily="34" charset="-120"/>
              </a:rPr>
              <a:t>Escrow is not enough</a:t>
            </a:r>
            <a:endParaRPr lang="en-US" sz="2200" dirty="0"/>
          </a:p>
        </p:txBody>
      </p:sp>
      <p:sp>
        <p:nvSpPr>
          <p:cNvPr id="11" name="Text 9"/>
          <p:cNvSpPr/>
          <p:nvPr/>
        </p:nvSpPr>
        <p:spPr>
          <a:xfrm>
            <a:off x="8309967" y="2943820"/>
            <a:ext cx="283418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31313"/>
                </a:solidFill>
                <a:latin typeface="Archivo" pitchFamily="34" charset="0"/>
                <a:ea typeface="Archivo" pitchFamily="34" charset="-122"/>
                <a:cs typeface="Archivo" pitchFamily="34" charset="-120"/>
              </a:rPr>
              <a:t>Escrows fix trust, but the money still sits idle. Nobody makes it work safely.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143000"/>
          </a:xfrm>
          <a:prstGeom prst="rect">
            <a:avLst/>
          </a:prstGeom>
          <a:noFill/>
          <a:ln/>
        </p:spPr>
        <p:txBody>
          <a:bodyPr wrap="square" lIns="0" tIns="0" rIns="0" bIns="0" rtlCol="0" anchor="t">
            <a:normAutofit/>
          </a:bodyPr>
          <a:lstStyle/>
          <a:p>
            <a:pPr algn="l" indent="0" marL="0">
              <a:lnSpc>
                <a:spcPts val="4400"/>
              </a:lnSpc>
              <a:buNone/>
            </a:pPr>
            <a:r>
              <a:rPr lang="en-US" sz="4000" b="1" i="0" spc="-50" kern="0" dirty="0">
                <a:solidFill>
                  <a:srgbClr val="131313"/>
                </a:solidFill>
                <a:latin typeface="Archivo" pitchFamily="34" charset="0"/>
                <a:ea typeface="Archivo" pitchFamily="34" charset="-122"/>
                <a:cs typeface="Archivo" pitchFamily="34" charset="-120"/>
              </a:rPr>
              <a:t>A neutral contract holds it and puts it to work</a:t>
            </a:r>
            <a:endParaRPr lang="en-US" sz="4000" dirty="0"/>
          </a:p>
        </p:txBody>
      </p:sp>
      <p:sp>
        <p:nvSpPr>
          <p:cNvPr id="3" name="Shape 1"/>
          <p:cNvSpPr/>
          <p:nvPr/>
        </p:nvSpPr>
        <p:spPr>
          <a:xfrm>
            <a:off x="819150" y="2393950"/>
            <a:ext cx="2495550" cy="2643783"/>
          </a:xfrm>
          <a:prstGeom prst="roundRect">
            <a:avLst>
              <a:gd name="adj" fmla="val 5852"/>
            </a:avLst>
          </a:prstGeom>
          <a:solidFill>
            <a:srgbClr val="FFFFFF"/>
          </a:solidFill>
          <a:ln w="12700">
            <a:solidFill>
              <a:srgbClr val="131313"/>
            </a:solidFill>
            <a:prstDash val="solid"/>
          </a:ln>
        </p:spPr>
        <p:txBody>
          <a:bodyPr/>
          <a:p/>
        </p:txBody>
      </p:sp>
      <p:sp>
        <p:nvSpPr>
          <p:cNvPr id="4" name="Text 2"/>
          <p:cNvSpPr/>
          <p:nvPr/>
        </p:nvSpPr>
        <p:spPr>
          <a:xfrm>
            <a:off x="1079500" y="2654300"/>
            <a:ext cx="2034095"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31313"/>
                </a:solidFill>
                <a:latin typeface="Archivo" pitchFamily="34" charset="0"/>
                <a:ea typeface="Archivo" pitchFamily="34" charset="-122"/>
                <a:cs typeface="Archivo" pitchFamily="34" charset="-120"/>
              </a:rPr>
              <a:t>1</a:t>
            </a:r>
            <a:endParaRPr lang="en-US" sz="3200" dirty="0"/>
          </a:p>
        </p:txBody>
      </p:sp>
      <p:sp>
        <p:nvSpPr>
          <p:cNvPr id="5" name="Text 3"/>
          <p:cNvSpPr/>
          <p:nvPr/>
        </p:nvSpPr>
        <p:spPr>
          <a:xfrm>
            <a:off x="1079500" y="3350220"/>
            <a:ext cx="20340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1313"/>
                </a:solidFill>
                <a:latin typeface="Archivo" pitchFamily="34" charset="0"/>
                <a:ea typeface="Archivo" pitchFamily="34" charset="-122"/>
                <a:cs typeface="Archivo" pitchFamily="34" charset="-120"/>
              </a:rPr>
              <a:t>Offer</a:t>
            </a:r>
            <a:endParaRPr lang="en-US" sz="2000" dirty="0"/>
          </a:p>
        </p:txBody>
      </p:sp>
      <p:sp>
        <p:nvSpPr>
          <p:cNvPr id="6" name="Text 4"/>
          <p:cNvSpPr/>
          <p:nvPr/>
        </p:nvSpPr>
        <p:spPr>
          <a:xfrm>
            <a:off x="1079500" y="3782020"/>
            <a:ext cx="203409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433D"/>
                </a:solidFill>
                <a:latin typeface="Archivo" pitchFamily="34" charset="0"/>
                <a:ea typeface="Archivo" pitchFamily="34" charset="-122"/>
                <a:cs typeface="Archivo" pitchFamily="34" charset="-120"/>
              </a:rPr>
              <a:t>The landlord deploys the agreement with its terms, signed on-chain.</a:t>
            </a:r>
            <a:endParaRPr lang="en-US" sz="1400" dirty="0"/>
          </a:p>
        </p:txBody>
      </p:sp>
      <p:sp>
        <p:nvSpPr>
          <p:cNvPr id="7" name="Shape 5"/>
          <p:cNvSpPr/>
          <p:nvPr/>
        </p:nvSpPr>
        <p:spPr>
          <a:xfrm>
            <a:off x="3505200" y="2393950"/>
            <a:ext cx="2495550" cy="2643783"/>
          </a:xfrm>
          <a:prstGeom prst="roundRect">
            <a:avLst>
              <a:gd name="adj" fmla="val 5852"/>
            </a:avLst>
          </a:prstGeom>
          <a:solidFill>
            <a:srgbClr val="FFFFFF"/>
          </a:solidFill>
          <a:ln w="12700">
            <a:solidFill>
              <a:srgbClr val="131313"/>
            </a:solidFill>
            <a:prstDash val="solid"/>
          </a:ln>
        </p:spPr>
        <p:txBody>
          <a:bodyPr/>
          <a:p/>
        </p:txBody>
      </p:sp>
      <p:sp>
        <p:nvSpPr>
          <p:cNvPr id="8" name="Text 6"/>
          <p:cNvSpPr/>
          <p:nvPr/>
        </p:nvSpPr>
        <p:spPr>
          <a:xfrm>
            <a:off x="3765550" y="2654300"/>
            <a:ext cx="2034095"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31313"/>
                </a:solidFill>
                <a:latin typeface="Archivo" pitchFamily="34" charset="0"/>
                <a:ea typeface="Archivo" pitchFamily="34" charset="-122"/>
                <a:cs typeface="Archivo" pitchFamily="34" charset="-120"/>
              </a:rPr>
              <a:t>2</a:t>
            </a:r>
            <a:endParaRPr lang="en-US" sz="3200" dirty="0"/>
          </a:p>
        </p:txBody>
      </p:sp>
      <p:sp>
        <p:nvSpPr>
          <p:cNvPr id="9" name="Text 7"/>
          <p:cNvSpPr/>
          <p:nvPr/>
        </p:nvSpPr>
        <p:spPr>
          <a:xfrm>
            <a:off x="3765550" y="3350220"/>
            <a:ext cx="20340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1313"/>
                </a:solidFill>
                <a:latin typeface="Archivo" pitchFamily="34" charset="0"/>
                <a:ea typeface="Archivo" pitchFamily="34" charset="-122"/>
                <a:cs typeface="Archivo" pitchFamily="34" charset="-120"/>
              </a:rPr>
              <a:t>Fund</a:t>
            </a:r>
            <a:endParaRPr lang="en-US" sz="2000" dirty="0"/>
          </a:p>
        </p:txBody>
      </p:sp>
      <p:sp>
        <p:nvSpPr>
          <p:cNvPr id="10" name="Text 8"/>
          <p:cNvSpPr/>
          <p:nvPr/>
        </p:nvSpPr>
        <p:spPr>
          <a:xfrm>
            <a:off x="3765550" y="3782020"/>
            <a:ext cx="2034095"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433D"/>
                </a:solidFill>
                <a:latin typeface="Archivo" pitchFamily="34" charset="0"/>
                <a:ea typeface="Archivo" pitchFamily="34" charset="-122"/>
                <a:cs typeface="Archivo" pitchFamily="34" charset="-120"/>
              </a:rPr>
              <a:t>The tenant accepts, chooses how much to invest and where, and locks USDC.</a:t>
            </a:r>
            <a:endParaRPr lang="en-US" sz="1400" dirty="0"/>
          </a:p>
        </p:txBody>
      </p:sp>
      <p:sp>
        <p:nvSpPr>
          <p:cNvPr id="11" name="Shape 9"/>
          <p:cNvSpPr/>
          <p:nvPr/>
        </p:nvSpPr>
        <p:spPr>
          <a:xfrm>
            <a:off x="6191250" y="2393950"/>
            <a:ext cx="2495550" cy="2643783"/>
          </a:xfrm>
          <a:prstGeom prst="roundRect">
            <a:avLst>
              <a:gd name="adj" fmla="val 5852"/>
            </a:avLst>
          </a:prstGeom>
          <a:solidFill>
            <a:srgbClr val="FDDA24"/>
          </a:solidFill>
          <a:ln w="12700">
            <a:solidFill>
              <a:srgbClr val="131313"/>
            </a:solidFill>
            <a:prstDash val="solid"/>
          </a:ln>
        </p:spPr>
        <p:txBody>
          <a:bodyPr/>
          <a:p/>
        </p:txBody>
      </p:sp>
      <p:sp>
        <p:nvSpPr>
          <p:cNvPr id="12" name="Text 10"/>
          <p:cNvSpPr/>
          <p:nvPr/>
        </p:nvSpPr>
        <p:spPr>
          <a:xfrm>
            <a:off x="6451600" y="2654300"/>
            <a:ext cx="2034095"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31313"/>
                </a:solidFill>
                <a:latin typeface="Archivo" pitchFamily="34" charset="0"/>
                <a:ea typeface="Archivo" pitchFamily="34" charset="-122"/>
                <a:cs typeface="Archivo" pitchFamily="34" charset="-120"/>
              </a:rPr>
              <a:t>3</a:t>
            </a:r>
            <a:endParaRPr lang="en-US" sz="3200" dirty="0"/>
          </a:p>
        </p:txBody>
      </p:sp>
      <p:sp>
        <p:nvSpPr>
          <p:cNvPr id="13" name="Text 11"/>
          <p:cNvSpPr/>
          <p:nvPr/>
        </p:nvSpPr>
        <p:spPr>
          <a:xfrm>
            <a:off x="6451600" y="3350220"/>
            <a:ext cx="20340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1313"/>
                </a:solidFill>
                <a:latin typeface="Archivo" pitchFamily="34" charset="0"/>
                <a:ea typeface="Archivo" pitchFamily="34" charset="-122"/>
                <a:cs typeface="Archivo" pitchFamily="34" charset="-120"/>
              </a:rPr>
              <a:t>Earn</a:t>
            </a:r>
            <a:endParaRPr lang="en-US" sz="2000" dirty="0"/>
          </a:p>
        </p:txBody>
      </p:sp>
      <p:sp>
        <p:nvSpPr>
          <p:cNvPr id="14" name="Text 12"/>
          <p:cNvSpPr/>
          <p:nvPr/>
        </p:nvSpPr>
        <p:spPr>
          <a:xfrm>
            <a:off x="6451600" y="3782020"/>
            <a:ext cx="203409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1313"/>
                </a:solidFill>
                <a:latin typeface="Archivo" pitchFamily="34" charset="0"/>
                <a:ea typeface="Archivo" pitchFamily="34" charset="-122"/>
                <a:cs typeface="Archivo" pitchFamily="34" charset="-120"/>
              </a:rPr>
              <a:t>Up to 80% earns yield in Blend and DeFindex. At least 20% stays liquid.</a:t>
            </a:r>
            <a:endParaRPr lang="en-US" sz="1400" dirty="0"/>
          </a:p>
        </p:txBody>
      </p:sp>
      <p:sp>
        <p:nvSpPr>
          <p:cNvPr id="15" name="Shape 13"/>
          <p:cNvSpPr/>
          <p:nvPr/>
        </p:nvSpPr>
        <p:spPr>
          <a:xfrm>
            <a:off x="8877300" y="2393950"/>
            <a:ext cx="2495550" cy="2643783"/>
          </a:xfrm>
          <a:prstGeom prst="roundRect">
            <a:avLst>
              <a:gd name="adj" fmla="val 5852"/>
            </a:avLst>
          </a:prstGeom>
          <a:solidFill>
            <a:srgbClr val="FFFFFF"/>
          </a:solidFill>
          <a:ln w="12700">
            <a:solidFill>
              <a:srgbClr val="131313"/>
            </a:solidFill>
            <a:prstDash val="solid"/>
          </a:ln>
        </p:spPr>
        <p:txBody>
          <a:bodyPr/>
          <a:p/>
        </p:txBody>
      </p:sp>
      <p:sp>
        <p:nvSpPr>
          <p:cNvPr id="16" name="Text 14"/>
          <p:cNvSpPr/>
          <p:nvPr/>
        </p:nvSpPr>
        <p:spPr>
          <a:xfrm>
            <a:off x="9137650" y="2654300"/>
            <a:ext cx="2034095"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31313"/>
                </a:solidFill>
                <a:latin typeface="Archivo" pitchFamily="34" charset="0"/>
                <a:ea typeface="Archivo" pitchFamily="34" charset="-122"/>
                <a:cs typeface="Archivo" pitchFamily="34" charset="-120"/>
              </a:rPr>
              <a:t>4</a:t>
            </a:r>
            <a:endParaRPr lang="en-US" sz="3200" dirty="0"/>
          </a:p>
        </p:txBody>
      </p:sp>
      <p:sp>
        <p:nvSpPr>
          <p:cNvPr id="17" name="Text 15"/>
          <p:cNvSpPr/>
          <p:nvPr/>
        </p:nvSpPr>
        <p:spPr>
          <a:xfrm>
            <a:off x="9137650" y="3350220"/>
            <a:ext cx="20340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1313"/>
                </a:solidFill>
                <a:latin typeface="Archivo" pitchFamily="34" charset="0"/>
                <a:ea typeface="Archivo" pitchFamily="34" charset="-122"/>
                <a:cs typeface="Archivo" pitchFamily="34" charset="-120"/>
              </a:rPr>
              <a:t>Settle</a:t>
            </a:r>
            <a:endParaRPr lang="en-US" sz="2000" dirty="0"/>
          </a:p>
        </p:txBody>
      </p:sp>
      <p:sp>
        <p:nvSpPr>
          <p:cNvPr id="18" name="Text 16"/>
          <p:cNvSpPr/>
          <p:nvPr/>
        </p:nvSpPr>
        <p:spPr>
          <a:xfrm>
            <a:off x="9137650" y="3782020"/>
            <a:ext cx="203409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433D"/>
                </a:solidFill>
                <a:latin typeface="Archivo" pitchFamily="34" charset="0"/>
                <a:ea typeface="Archivo" pitchFamily="34" charset="-122"/>
                <a:cs typeface="Archivo" pitchFamily="34" charset="-120"/>
              </a:rPr>
              <a:t>Agreed repairs to the landlord first; deposit and yield to the tenant.</a:t>
            </a:r>
            <a:endParaRPr lang="en-US" sz="1400" dirty="0"/>
          </a:p>
        </p:txBody>
      </p:sp>
      <p:sp>
        <p:nvSpPr>
          <p:cNvPr id="19" name="Text 17"/>
          <p:cNvSpPr/>
          <p:nvPr/>
        </p:nvSpPr>
        <p:spPr>
          <a:xfrm>
            <a:off x="812800" y="5501283"/>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5433D"/>
                </a:solidFill>
                <a:latin typeface="Archivo" pitchFamily="34" charset="0"/>
                <a:ea typeface="Archivo" pitchFamily="34" charset="-122"/>
                <a:cs typeface="Archivo" pitchFamily="34" charset="-120"/>
              </a:rPr>
              <a:t>Disagree? Nothing moves. A neutral arbiter decides, and can never award more than the landlord asked.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spc="-50" kern="0" dirty="0">
                <a:solidFill>
                  <a:srgbClr val="131313"/>
                </a:solidFill>
                <a:latin typeface="Archivo" pitchFamily="34" charset="0"/>
                <a:ea typeface="Archivo" pitchFamily="34" charset="-122"/>
                <a:cs typeface="Archivo" pitchFamily="34" charset="-120"/>
              </a:rPr>
              <a:t>Each side decides what is theirs</a:t>
            </a:r>
            <a:endParaRPr lang="en-US" sz="4000" dirty="0"/>
          </a:p>
        </p:txBody>
      </p:sp>
      <p:sp>
        <p:nvSpPr>
          <p:cNvPr id="3" name="Shape 1"/>
          <p:cNvSpPr/>
          <p:nvPr/>
        </p:nvSpPr>
        <p:spPr>
          <a:xfrm>
            <a:off x="819150" y="1784350"/>
            <a:ext cx="3373934" cy="2824460"/>
          </a:xfrm>
          <a:prstGeom prst="roundRect">
            <a:avLst>
              <a:gd name="adj" fmla="val 5171"/>
            </a:avLst>
          </a:prstGeom>
          <a:solidFill>
            <a:srgbClr val="FFFFFF"/>
          </a:solidFill>
          <a:ln w="12700">
            <a:solidFill>
              <a:srgbClr val="131313"/>
            </a:solidFill>
            <a:prstDash val="solid"/>
          </a:ln>
        </p:spPr>
        <p:txBody>
          <a:bodyPr/>
          <a:p/>
        </p:txBody>
      </p:sp>
      <p:sp>
        <p:nvSpPr>
          <p:cNvPr id="4" name="Text 2"/>
          <p:cNvSpPr/>
          <p:nvPr/>
        </p:nvSpPr>
        <p:spPr>
          <a:xfrm>
            <a:off x="1130300" y="2095500"/>
            <a:ext cx="283418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1313"/>
                </a:solidFill>
                <a:latin typeface="Archivo" pitchFamily="34" charset="0"/>
                <a:ea typeface="Archivo" pitchFamily="34" charset="-122"/>
                <a:cs typeface="Archivo" pitchFamily="34" charset="-120"/>
              </a:rPr>
              <a:t>Landlord</a:t>
            </a:r>
            <a:endParaRPr lang="en-US" sz="2200" dirty="0"/>
          </a:p>
        </p:txBody>
      </p:sp>
      <p:sp>
        <p:nvSpPr>
          <p:cNvPr id="5" name="Text 3"/>
          <p:cNvSpPr/>
          <p:nvPr/>
        </p:nvSpPr>
        <p:spPr>
          <a:xfrm>
            <a:off x="1220470" y="2583160"/>
            <a:ext cx="2736393" cy="1168400"/>
          </a:xfrm>
          <a:prstGeom prst="rect">
            <a:avLst/>
          </a:prstGeom>
          <a:noFill/>
          <a:ln/>
        </p:spPr>
        <p:txBody>
          <a:bodyPr wrap="square" lIns="0" tIns="0" rIns="0" bIns="0" rtlCol="0" anchor="t">
            <a:normAutofit/>
          </a:bodyPr>
          <a:lstStyle/>
          <a:p>
            <a:pPr algn="l" marL="163830" indent="-163830">
              <a:lnSpc>
                <a:spcPts val="2250"/>
              </a:lnSpc>
              <a:buSzPct val="100000"/>
              <a:buChar char="•"/>
            </a:pPr>
            <a:r>
              <a:rPr lang="en-US" sz="1500" dirty="0">
                <a:solidFill>
                  <a:srgbClr val="45433D"/>
                </a:solidFill>
                <a:latin typeface="Archivo" pitchFamily="34" charset="0"/>
                <a:ea typeface="Archivo" pitchFamily="34" charset="-122"/>
                <a:cs typeface="Archivo" pitchFamily="34" charset="-120"/>
              </a:rPr>
              <a:t>Amount and lease dates</a:t>
            </a:r>
            <a:endParaRPr lang="en-US" sz="1500" dirty="0"/>
          </a:p>
          <a:p>
            <a:pPr algn="l" marL="163830" indent="-163830">
              <a:lnSpc>
                <a:spcPts val="2250"/>
              </a:lnSpc>
              <a:buSzPct val="100000"/>
              <a:buChar char="•"/>
            </a:pPr>
            <a:r>
              <a:rPr lang="en-US" sz="1500" dirty="0">
                <a:solidFill>
                  <a:srgbClr val="45433D"/>
                </a:solidFill>
                <a:latin typeface="Archivo" pitchFamily="34" charset="0"/>
                <a:ea typeface="Archivo" pitchFamily="34" charset="-122"/>
                <a:cs typeface="Archivo" pitchFamily="34" charset="-120"/>
              </a:rPr>
              <a:t>Neutral arbiter</a:t>
            </a:r>
            <a:endParaRPr lang="en-US" sz="1500" dirty="0"/>
          </a:p>
          <a:p>
            <a:pPr algn="l" marL="163830" indent="-163830">
              <a:lnSpc>
                <a:spcPts val="2250"/>
              </a:lnSpc>
              <a:buSzPct val="100000"/>
              <a:buChar char="•"/>
            </a:pPr>
            <a:r>
              <a:rPr lang="en-US" sz="1500" dirty="0">
                <a:solidFill>
                  <a:srgbClr val="45433D"/>
                </a:solidFill>
                <a:latin typeface="Archivo" pitchFamily="34" charset="0"/>
                <a:ea typeface="Archivo" pitchFamily="34" charset="-122"/>
                <a:cs typeface="Archivo" pitchFamily="34" charset="-120"/>
              </a:rPr>
              <a:t>A small share of the yield: 3% by default</a:t>
            </a:r>
            <a:endParaRPr lang="en-US" sz="1500" dirty="0"/>
          </a:p>
        </p:txBody>
      </p:sp>
      <p:sp>
        <p:nvSpPr>
          <p:cNvPr id="6" name="Shape 4"/>
          <p:cNvSpPr/>
          <p:nvPr/>
        </p:nvSpPr>
        <p:spPr>
          <a:xfrm>
            <a:off x="4408984" y="1784350"/>
            <a:ext cx="3373934" cy="2824460"/>
          </a:xfrm>
          <a:prstGeom prst="roundRect">
            <a:avLst>
              <a:gd name="adj" fmla="val 5171"/>
            </a:avLst>
          </a:prstGeom>
          <a:solidFill>
            <a:srgbClr val="131313"/>
          </a:solidFill>
          <a:ln w="12700">
            <a:solidFill>
              <a:srgbClr val="131313"/>
            </a:solidFill>
            <a:prstDash val="solid"/>
          </a:ln>
        </p:spPr>
        <p:txBody>
          <a:bodyPr/>
          <a:p/>
        </p:txBody>
      </p:sp>
      <p:sp>
        <p:nvSpPr>
          <p:cNvPr id="7" name="Text 5"/>
          <p:cNvSpPr/>
          <p:nvPr/>
        </p:nvSpPr>
        <p:spPr>
          <a:xfrm>
            <a:off x="4720134" y="2095500"/>
            <a:ext cx="283418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DDA24"/>
                </a:solidFill>
                <a:latin typeface="Archivo" pitchFamily="34" charset="0"/>
                <a:ea typeface="Archivo" pitchFamily="34" charset="-122"/>
                <a:cs typeface="Archivo" pitchFamily="34" charset="-120"/>
              </a:rPr>
              <a:t>Tenant</a:t>
            </a:r>
            <a:endParaRPr lang="en-US" sz="2200" dirty="0"/>
          </a:p>
        </p:txBody>
      </p:sp>
      <p:sp>
        <p:nvSpPr>
          <p:cNvPr id="8" name="Text 6"/>
          <p:cNvSpPr/>
          <p:nvPr/>
        </p:nvSpPr>
        <p:spPr>
          <a:xfrm>
            <a:off x="4810304" y="2583160"/>
            <a:ext cx="2736393" cy="1739900"/>
          </a:xfrm>
          <a:prstGeom prst="rect">
            <a:avLst/>
          </a:prstGeom>
          <a:noFill/>
          <a:ln/>
        </p:spPr>
        <p:txBody>
          <a:bodyPr wrap="square" lIns="0" tIns="0" rIns="0" bIns="0" rtlCol="0" anchor="t">
            <a:normAutofit/>
          </a:bodyPr>
          <a:lstStyle/>
          <a:p>
            <a:pPr algn="l" marL="163830" indent="-163830">
              <a:lnSpc>
                <a:spcPts val="2250"/>
              </a:lnSpc>
              <a:buSzPct val="100000"/>
              <a:buChar char="•"/>
            </a:pPr>
            <a:r>
              <a:rPr lang="en-US" sz="1500" dirty="0">
                <a:solidFill>
                  <a:srgbClr val="F6F5EF"/>
                </a:solidFill>
                <a:latin typeface="Archivo" pitchFamily="34" charset="0"/>
                <a:ea typeface="Archivo" pitchFamily="34" charset="-122"/>
                <a:cs typeface="Archivo" pitchFamily="34" charset="-120"/>
              </a:rPr>
              <a:t>How much to invest, up to 80%</a:t>
            </a:r>
            <a:endParaRPr lang="en-US" sz="1500" dirty="0"/>
          </a:p>
          <a:p>
            <a:pPr algn="l" marL="163830" indent="-163830">
              <a:lnSpc>
                <a:spcPts val="2250"/>
              </a:lnSpc>
              <a:buSzPct val="100000"/>
              <a:buChar char="•"/>
            </a:pPr>
            <a:r>
              <a:rPr lang="en-US" sz="1500" dirty="0">
                <a:solidFill>
                  <a:srgbClr val="F6F5EF"/>
                </a:solidFill>
                <a:latin typeface="Archivo" pitchFamily="34" charset="0"/>
                <a:ea typeface="Archivo" pitchFamily="34" charset="-122"/>
                <a:cs typeface="Archivo" pitchFamily="34" charset="-120"/>
              </a:rPr>
              <a:t>Where: Blend direct or the DeFindex reserve</a:t>
            </a:r>
            <a:endParaRPr lang="en-US" sz="1500" dirty="0"/>
          </a:p>
          <a:p>
            <a:pPr algn="l" marL="163830" indent="-163830">
              <a:lnSpc>
                <a:spcPts val="2250"/>
              </a:lnSpc>
              <a:buSzPct val="100000"/>
              <a:buChar char="•"/>
            </a:pPr>
            <a:r>
              <a:rPr lang="en-US" sz="1500" dirty="0">
                <a:solidFill>
                  <a:srgbClr val="F6F5EF"/>
                </a:solidFill>
                <a:latin typeface="Archivo" pitchFamily="34" charset="0"/>
                <a:ea typeface="Archivo" pitchFamily="34" charset="-122"/>
                <a:cs typeface="Archivo" pitchFamily="34" charset="-120"/>
              </a:rPr>
              <a:t>Keeps at least 95% of the yield</a:t>
            </a:r>
            <a:endParaRPr lang="en-US" sz="1500" dirty="0"/>
          </a:p>
        </p:txBody>
      </p:sp>
      <p:sp>
        <p:nvSpPr>
          <p:cNvPr id="9" name="Shape 7"/>
          <p:cNvSpPr/>
          <p:nvPr/>
        </p:nvSpPr>
        <p:spPr>
          <a:xfrm>
            <a:off x="7998817" y="1784350"/>
            <a:ext cx="3373934" cy="2824460"/>
          </a:xfrm>
          <a:prstGeom prst="roundRect">
            <a:avLst>
              <a:gd name="adj" fmla="val 5171"/>
            </a:avLst>
          </a:prstGeom>
          <a:solidFill>
            <a:srgbClr val="FDDA24"/>
          </a:solidFill>
          <a:ln w="12700">
            <a:solidFill>
              <a:srgbClr val="131313"/>
            </a:solidFill>
            <a:prstDash val="solid"/>
          </a:ln>
        </p:spPr>
        <p:txBody>
          <a:bodyPr/>
          <a:p/>
        </p:txBody>
      </p:sp>
      <p:sp>
        <p:nvSpPr>
          <p:cNvPr id="10" name="Text 8"/>
          <p:cNvSpPr/>
          <p:nvPr/>
        </p:nvSpPr>
        <p:spPr>
          <a:xfrm>
            <a:off x="8309967" y="2095500"/>
            <a:ext cx="283418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1313"/>
                </a:solidFill>
                <a:latin typeface="Archivo" pitchFamily="34" charset="0"/>
                <a:ea typeface="Archivo" pitchFamily="34" charset="-122"/>
                <a:cs typeface="Archivo" pitchFamily="34" charset="-120"/>
              </a:rPr>
              <a:t>The contract</a:t>
            </a:r>
            <a:endParaRPr lang="en-US" sz="2200" dirty="0"/>
          </a:p>
        </p:txBody>
      </p:sp>
      <p:sp>
        <p:nvSpPr>
          <p:cNvPr id="11" name="Text 9"/>
          <p:cNvSpPr/>
          <p:nvPr/>
        </p:nvSpPr>
        <p:spPr>
          <a:xfrm>
            <a:off x="8400137" y="2583160"/>
            <a:ext cx="2736393" cy="1168400"/>
          </a:xfrm>
          <a:prstGeom prst="rect">
            <a:avLst/>
          </a:prstGeom>
          <a:noFill/>
          <a:ln/>
        </p:spPr>
        <p:txBody>
          <a:bodyPr wrap="square" lIns="0" tIns="0" rIns="0" bIns="0" rtlCol="0" anchor="t">
            <a:normAutofit/>
          </a:bodyPr>
          <a:lstStyle/>
          <a:p>
            <a:pPr algn="l" marL="163830" indent="-163830">
              <a:lnSpc>
                <a:spcPts val="2250"/>
              </a:lnSpc>
              <a:buSzPct val="100000"/>
              <a:buChar char="•"/>
            </a:pPr>
            <a:r>
              <a:rPr lang="en-US" sz="1500" dirty="0">
                <a:solidFill>
                  <a:srgbClr val="131313"/>
                </a:solidFill>
                <a:latin typeface="Archivo" pitchFamily="34" charset="0"/>
                <a:ea typeface="Archivo" pitchFamily="34" charset="-122"/>
                <a:cs typeface="Archivo" pitchFamily="34" charset="-120"/>
              </a:rPr>
              <a:t>At least 20% always liquid</a:t>
            </a:r>
            <a:endParaRPr lang="en-US" sz="1500" dirty="0"/>
          </a:p>
          <a:p>
            <a:pPr algn="l" marL="163830" indent="-163830">
              <a:lnSpc>
                <a:spcPts val="2250"/>
              </a:lnSpc>
              <a:buSzPct val="100000"/>
              <a:buChar char="•"/>
            </a:pPr>
            <a:r>
              <a:rPr lang="en-US" sz="1500" dirty="0">
                <a:solidFill>
                  <a:srgbClr val="131313"/>
                </a:solidFill>
                <a:latin typeface="Archivo" pitchFamily="34" charset="0"/>
                <a:ea typeface="Archivo" pitchFamily="34" charset="-122"/>
                <a:cs typeface="Archivo" pitchFamily="34" charset="-120"/>
              </a:rPr>
              <a:t>Landlord share capped at 5%, of the yield only</a:t>
            </a:r>
            <a:endParaRPr lang="en-US" sz="1500" dirty="0"/>
          </a:p>
          <a:p>
            <a:pPr algn="l" marL="163830" indent="-163830">
              <a:lnSpc>
                <a:spcPts val="2250"/>
              </a:lnSpc>
              <a:buSzPct val="100000"/>
              <a:buChar char="•"/>
            </a:pPr>
            <a:r>
              <a:rPr lang="en-US" sz="1500" dirty="0">
                <a:solidFill>
                  <a:srgbClr val="131313"/>
                </a:solidFill>
                <a:latin typeface="Archivo" pitchFamily="34" charset="0"/>
                <a:ea typeface="Archivo" pitchFamily="34" charset="-122"/>
                <a:cs typeface="Archivo" pitchFamily="34" charset="-120"/>
              </a:rPr>
              <a:t>Both signatures, or the arbiter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131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spc="-50" kern="0" dirty="0">
                <a:solidFill>
                  <a:srgbClr val="F6F5EF"/>
                </a:solidFill>
                <a:latin typeface="Archivo" pitchFamily="34" charset="0"/>
                <a:ea typeface="Archivo" pitchFamily="34" charset="-122"/>
                <a:cs typeface="Archivo" pitchFamily="34" charset="-120"/>
              </a:rPr>
              <a:t>Composed on Stellar</a:t>
            </a:r>
            <a:endParaRPr lang="en-US" sz="4000" dirty="0"/>
          </a:p>
        </p:txBody>
      </p:sp>
      <p:sp>
        <p:nvSpPr>
          <p:cNvPr id="3" name="Shape 1"/>
          <p:cNvSpPr/>
          <p:nvPr/>
        </p:nvSpPr>
        <p:spPr>
          <a:xfrm>
            <a:off x="812800" y="1727200"/>
            <a:ext cx="2127250" cy="1912441"/>
          </a:xfrm>
          <a:prstGeom prst="roundRect">
            <a:avLst>
              <a:gd name="adj" fmla="val 7969"/>
            </a:avLst>
          </a:prstGeom>
          <a:solidFill>
            <a:srgbClr val="FDDA24"/>
          </a:solidFill>
          <a:ln/>
        </p:spPr>
        <p:txBody>
          <a:bodyPr/>
          <a:p/>
        </p:txBody>
      </p:sp>
      <p:sp>
        <p:nvSpPr>
          <p:cNvPr id="4" name="Text 2"/>
          <p:cNvSpPr/>
          <p:nvPr/>
        </p:nvSpPr>
        <p:spPr>
          <a:xfrm>
            <a:off x="1066800" y="1981200"/>
            <a:ext cx="167005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1313"/>
                </a:solidFill>
                <a:latin typeface="Archivo" pitchFamily="34" charset="0"/>
                <a:ea typeface="Archivo" pitchFamily="34" charset="-122"/>
                <a:cs typeface="Archivo" pitchFamily="34" charset="-120"/>
              </a:rPr>
              <a:t>Soroban escrow</a:t>
            </a:r>
            <a:endParaRPr lang="en-US" sz="2000" dirty="0"/>
          </a:p>
        </p:txBody>
      </p:sp>
      <p:sp>
        <p:nvSpPr>
          <p:cNvPr id="5" name="Text 3"/>
          <p:cNvSpPr/>
          <p:nvPr/>
        </p:nvSpPr>
        <p:spPr>
          <a:xfrm>
            <a:off x="1066800" y="2692400"/>
            <a:ext cx="167005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1313"/>
                </a:solidFill>
                <a:latin typeface="Archivo" pitchFamily="34" charset="0"/>
                <a:ea typeface="Archivo" pitchFamily="34" charset="-122"/>
                <a:cs typeface="Archivo" pitchFamily="34" charset="-120"/>
              </a:rPr>
              <a:t>Terms, state machine, waterfall, timeouts, 80% cap</a:t>
            </a:r>
            <a:endParaRPr lang="en-US" sz="1300" dirty="0"/>
          </a:p>
        </p:txBody>
      </p:sp>
      <p:pic>
        <p:nvPicPr>
          <p:cNvPr id="6" name="Image 0" descr="Link">    </p:cNvPr>
          <p:cNvPicPr>
            <a:picLocks noChangeAspect="1"/>
          </p:cNvPicPr>
          <p:nvPr/>
        </p:nvPicPr>
        <p:blipFill>
          <a:blip r:embed="rId1"/>
          <a:srcRect l="0" r="0" t="0" b="0"/>
          <a:stretch/>
        </p:blipFill>
        <p:spPr>
          <a:xfrm>
            <a:off x="3092450" y="2505571"/>
            <a:ext cx="355600" cy="355600"/>
          </a:xfrm>
          <a:prstGeom prst="rect">
            <a:avLst/>
          </a:prstGeom>
        </p:spPr>
      </p:pic>
      <p:sp>
        <p:nvSpPr>
          <p:cNvPr id="7" name="Shape 4"/>
          <p:cNvSpPr/>
          <p:nvPr/>
        </p:nvSpPr>
        <p:spPr>
          <a:xfrm>
            <a:off x="3606800" y="1757660"/>
            <a:ext cx="2139950" cy="1851422"/>
          </a:xfrm>
          <a:prstGeom prst="roundRect">
            <a:avLst>
              <a:gd name="adj" fmla="val 7889"/>
            </a:avLst>
          </a:prstGeom>
          <a:solidFill>
            <a:srgbClr val="262624"/>
          </a:solidFill>
          <a:ln w="12700">
            <a:solidFill>
              <a:srgbClr val="5A5850"/>
            </a:solidFill>
            <a:prstDash val="solid"/>
          </a:ln>
        </p:spPr>
        <p:txBody>
          <a:bodyPr/>
          <a:p/>
        </p:txBody>
      </p:sp>
      <p:sp>
        <p:nvSpPr>
          <p:cNvPr id="8" name="Text 5"/>
          <p:cNvSpPr/>
          <p:nvPr/>
        </p:nvSpPr>
        <p:spPr>
          <a:xfrm>
            <a:off x="3867150" y="2018010"/>
            <a:ext cx="16700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5EF"/>
                </a:solidFill>
                <a:latin typeface="Archivo" pitchFamily="34" charset="0"/>
                <a:ea typeface="Archivo" pitchFamily="34" charset="-122"/>
                <a:cs typeface="Archivo" pitchFamily="34" charset="-120"/>
              </a:rPr>
              <a:t>Blend</a:t>
            </a:r>
            <a:endParaRPr lang="en-US" sz="2000" dirty="0"/>
          </a:p>
        </p:txBody>
      </p:sp>
      <p:sp>
        <p:nvSpPr>
          <p:cNvPr id="9" name="Text 6"/>
          <p:cNvSpPr/>
          <p:nvPr/>
        </p:nvSpPr>
        <p:spPr>
          <a:xfrm>
            <a:off x="3867150" y="2424410"/>
            <a:ext cx="167005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DBAB0"/>
                </a:solidFill>
                <a:latin typeface="Archivo" pitchFamily="34" charset="0"/>
                <a:ea typeface="Archivo" pitchFamily="34" charset="-122"/>
                <a:cs typeface="Archivo" pitchFamily="34" charset="-120"/>
              </a:rPr>
              <a:t>Direct supply: approve + submit_with_allowance</a:t>
            </a:r>
            <a:endParaRPr lang="en-US" sz="1300" dirty="0"/>
          </a:p>
        </p:txBody>
      </p:sp>
      <p:pic>
        <p:nvPicPr>
          <p:cNvPr id="10" name="Image 1" descr="Link">    </p:cNvPr>
          <p:cNvPicPr>
            <a:picLocks noChangeAspect="1"/>
          </p:cNvPicPr>
          <p:nvPr/>
        </p:nvPicPr>
        <p:blipFill>
          <a:blip r:embed="rId2"/>
          <a:srcRect l="0" r="0" t="0" b="0"/>
          <a:stretch/>
        </p:blipFill>
        <p:spPr>
          <a:xfrm>
            <a:off x="5905500" y="2505571"/>
            <a:ext cx="355600" cy="355600"/>
          </a:xfrm>
          <a:prstGeom prst="rect">
            <a:avLst/>
          </a:prstGeom>
        </p:spPr>
      </p:pic>
      <p:sp>
        <p:nvSpPr>
          <p:cNvPr id="11" name="Shape 7"/>
          <p:cNvSpPr/>
          <p:nvPr/>
        </p:nvSpPr>
        <p:spPr>
          <a:xfrm>
            <a:off x="6419850" y="1873250"/>
            <a:ext cx="2139950" cy="1620341"/>
          </a:xfrm>
          <a:prstGeom prst="roundRect">
            <a:avLst>
              <a:gd name="adj" fmla="val 9014"/>
            </a:avLst>
          </a:prstGeom>
          <a:solidFill>
            <a:srgbClr val="262624"/>
          </a:solidFill>
          <a:ln w="12700">
            <a:solidFill>
              <a:srgbClr val="5A5850"/>
            </a:solidFill>
            <a:prstDash val="solid"/>
          </a:ln>
        </p:spPr>
        <p:txBody>
          <a:bodyPr/>
          <a:p/>
        </p:txBody>
      </p:sp>
      <p:sp>
        <p:nvSpPr>
          <p:cNvPr id="12" name="Text 8"/>
          <p:cNvSpPr/>
          <p:nvPr/>
        </p:nvSpPr>
        <p:spPr>
          <a:xfrm>
            <a:off x="6680200" y="2133600"/>
            <a:ext cx="16700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5EF"/>
                </a:solidFill>
                <a:latin typeface="Archivo" pitchFamily="34" charset="0"/>
                <a:ea typeface="Archivo" pitchFamily="34" charset="-122"/>
                <a:cs typeface="Archivo" pitchFamily="34" charset="-120"/>
              </a:rPr>
              <a:t>DeFindex</a:t>
            </a:r>
            <a:endParaRPr lang="en-US" sz="2000" dirty="0"/>
          </a:p>
        </p:txBody>
      </p:sp>
      <p:sp>
        <p:nvSpPr>
          <p:cNvPr id="13" name="Text 9"/>
          <p:cNvSpPr/>
          <p:nvPr/>
        </p:nvSpPr>
        <p:spPr>
          <a:xfrm>
            <a:off x="6680200" y="2540000"/>
            <a:ext cx="167005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DBAB0"/>
                </a:solidFill>
                <a:latin typeface="Archivo" pitchFamily="34" charset="0"/>
                <a:ea typeface="Archivo" pitchFamily="34" charset="-122"/>
                <a:cs typeface="Archivo" pitchFamily="34" charset="-120"/>
              </a:rPr>
              <a:t>Our own vault: a shared reserve across agreements</a:t>
            </a:r>
            <a:endParaRPr lang="en-US" sz="1300" dirty="0"/>
          </a:p>
        </p:txBody>
      </p:sp>
      <p:pic>
        <p:nvPicPr>
          <p:cNvPr id="14" name="Image 2" descr="Link">    </p:cNvPr>
          <p:cNvPicPr>
            <a:picLocks noChangeAspect="1"/>
          </p:cNvPicPr>
          <p:nvPr/>
        </p:nvPicPr>
        <p:blipFill>
          <a:blip r:embed="rId3"/>
          <a:srcRect l="0" r="0" t="0" b="0"/>
          <a:stretch/>
        </p:blipFill>
        <p:spPr>
          <a:xfrm>
            <a:off x="8718550" y="2505571"/>
            <a:ext cx="355600" cy="355600"/>
          </a:xfrm>
          <a:prstGeom prst="rect">
            <a:avLst/>
          </a:prstGeom>
        </p:spPr>
      </p:pic>
      <p:sp>
        <p:nvSpPr>
          <p:cNvPr id="15" name="Shape 10"/>
          <p:cNvSpPr/>
          <p:nvPr/>
        </p:nvSpPr>
        <p:spPr>
          <a:xfrm>
            <a:off x="9232900" y="1873250"/>
            <a:ext cx="2139950" cy="1620341"/>
          </a:xfrm>
          <a:prstGeom prst="roundRect">
            <a:avLst>
              <a:gd name="adj" fmla="val 9014"/>
            </a:avLst>
          </a:prstGeom>
          <a:solidFill>
            <a:srgbClr val="262624"/>
          </a:solidFill>
          <a:ln w="12700">
            <a:solidFill>
              <a:srgbClr val="5A5850"/>
            </a:solidFill>
            <a:prstDash val="solid"/>
          </a:ln>
        </p:spPr>
        <p:txBody>
          <a:bodyPr/>
          <a:p/>
        </p:txBody>
      </p:sp>
      <p:sp>
        <p:nvSpPr>
          <p:cNvPr id="16" name="Text 11"/>
          <p:cNvSpPr/>
          <p:nvPr/>
        </p:nvSpPr>
        <p:spPr>
          <a:xfrm>
            <a:off x="9493250" y="2133600"/>
            <a:ext cx="16700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5EF"/>
                </a:solidFill>
                <a:latin typeface="Archivo" pitchFamily="34" charset="0"/>
                <a:ea typeface="Archivo" pitchFamily="34" charset="-122"/>
                <a:cs typeface="Archivo" pitchFamily="34" charset="-120"/>
              </a:rPr>
              <a:t>Risk model</a:t>
            </a:r>
            <a:endParaRPr lang="en-US" sz="2000" dirty="0"/>
          </a:p>
        </p:txBody>
      </p:sp>
      <p:sp>
        <p:nvSpPr>
          <p:cNvPr id="17" name="Text 12"/>
          <p:cNvSpPr/>
          <p:nvPr/>
        </p:nvSpPr>
        <p:spPr>
          <a:xfrm>
            <a:off x="9493250" y="2540000"/>
            <a:ext cx="167005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DBAB0"/>
                </a:solidFill>
                <a:latin typeface="Archivo" pitchFamily="34" charset="0"/>
                <a:ea typeface="Archivo" pitchFamily="34" charset="-122"/>
                <a:cs typeface="Archivo" pitchFamily="34" charset="-120"/>
              </a:rPr>
              <a:t>Recommends the share and rebalances the reserve</a:t>
            </a:r>
            <a:endParaRPr lang="en-US" sz="1300" dirty="0"/>
          </a:p>
        </p:txBody>
      </p:sp>
      <p:sp>
        <p:nvSpPr>
          <p:cNvPr id="18" name="Text 13"/>
          <p:cNvSpPr/>
          <p:nvPr/>
        </p:nvSpPr>
        <p:spPr>
          <a:xfrm>
            <a:off x="812800" y="3995241"/>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EF"/>
                </a:solidFill>
                <a:latin typeface="Archivo" pitchFamily="34" charset="0"/>
                <a:ea typeface="Archivo" pitchFamily="34" charset="-122"/>
                <a:cs typeface="Archivo" pitchFamily="34" charset="-120"/>
              </a:rPr>
              <a:t>One tenant signature funds both venues: the contract authorizes the vault’s pull itself with </a:t>
            </a:r>
            <a:r>
              <a:rPr lang="en-US" sz="1600" dirty="0">
                <a:solidFill>
                  <a:srgbClr val="FDDA24"/>
                </a:solidFill>
                <a:latin typeface="Archivo" pitchFamily="34" charset="0"/>
                <a:ea typeface="Archivo" pitchFamily="34" charset="-122"/>
                <a:cs typeface="Archivo" pitchFamily="34" charset="-120"/>
              </a:rPr>
              <a:t>authorize_as_current_contract</a:t>
            </a:r>
            <a:r>
              <a:rPr lang="en-US" sz="1600" dirty="0">
                <a:solidFill>
                  <a:srgbClr val="F6F5EF"/>
                </a:solidFill>
                <a:latin typeface="Archivo" pitchFamily="34" charset="0"/>
                <a:ea typeface="Archivo" pitchFamily="34" charset="-122"/>
                <a:cs typeface="Archivo" pitchFamily="34" charset="-120"/>
              </a:rPr>
              <a:t>. USDC throughout, Freighter in the app.</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spc="-50" kern="0" dirty="0">
                <a:solidFill>
                  <a:srgbClr val="131313"/>
                </a:solidFill>
                <a:latin typeface="Archivo" pitchFamily="34" charset="0"/>
                <a:ea typeface="Archivo" pitchFamily="34" charset="-122"/>
                <a:cs typeface="Archivo" pitchFamily="34" charset="-120"/>
              </a:rPr>
              <a:t>How much can safely earn yield?</a:t>
            </a:r>
            <a:endParaRPr lang="en-US" sz="4000" dirty="0"/>
          </a:p>
        </p:txBody>
      </p:sp>
      <p:sp>
        <p:nvSpPr>
          <p:cNvPr id="3" name="Text 1"/>
          <p:cNvSpPr/>
          <p:nvPr/>
        </p:nvSpPr>
        <p:spPr>
          <a:xfrm>
            <a:off x="812800" y="1727200"/>
            <a:ext cx="5258562"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5433D"/>
                </a:solidFill>
                <a:latin typeface="Archivo" pitchFamily="34" charset="0"/>
                <a:ea typeface="Archivo" pitchFamily="34" charset="-122"/>
                <a:cs typeface="Archivo" pitchFamily="34" charset="-120"/>
              </a:rPr>
              <a:t>A payout is delayed only if the deduction exceeds the liquid buffer </a:t>
            </a:r>
            <a:r>
              <a:rPr lang="en-US" sz="1600" b="1" dirty="0">
                <a:solidFill>
                  <a:srgbClr val="45433D"/>
                </a:solidFill>
                <a:latin typeface="Archivo" pitchFamily="34" charset="0"/>
                <a:ea typeface="Archivo" pitchFamily="34" charset="-122"/>
                <a:cs typeface="Archivo" pitchFamily="34" charset="-120"/>
              </a:rPr>
              <a:t>and</a:t>
            </a:r>
            <a:r>
              <a:rPr lang="en-US" sz="1600" dirty="0">
                <a:solidFill>
                  <a:srgbClr val="45433D"/>
                </a:solidFill>
                <a:latin typeface="Archivo" pitchFamily="34" charset="0"/>
                <a:ea typeface="Archivo" pitchFamily="34" charset="-122"/>
                <a:cs typeface="Archivo" pitchFamily="34" charset="-120"/>
              </a:rPr>
              <a:t> the venue can’t pay that day:</a:t>
            </a:r>
            <a:endParaRPr lang="en-US" sz="1600" dirty="0"/>
          </a:p>
        </p:txBody>
      </p:sp>
      <p:sp>
        <p:nvSpPr>
          <p:cNvPr id="4" name="Text 2"/>
          <p:cNvSpPr/>
          <p:nvPr/>
        </p:nvSpPr>
        <p:spPr>
          <a:xfrm>
            <a:off x="819150" y="2500511"/>
            <a:ext cx="5092700" cy="810220"/>
          </a:xfrm>
          <a:prstGeom prst="roundRect">
            <a:avLst>
              <a:gd name="adj" fmla="val 14891"/>
            </a:avLst>
          </a:prstGeom>
          <a:solidFill>
            <a:srgbClr val="FFFFFF"/>
          </a:solidFill>
          <a:ln w="12700">
            <a:solidFill>
              <a:srgbClr val="131313"/>
            </a:solidFill>
            <a:prstDash val="solid"/>
          </a:ln>
        </p:spPr>
        <p:txBody>
          <a:bodyPr wrap="square" lIns="174213" tIns="174213" rIns="34005" bIns="148813" rtlCol="0" anchor="t">
            <a:normAutofit/>
          </a:bodyPr>
          <a:lstStyle/>
          <a:p>
            <a:pPr algn="l" indent="0" marL="0">
              <a:lnSpc>
                <a:spcPts val="3080"/>
              </a:lnSpc>
              <a:buNone/>
            </a:pPr>
            <a:r>
              <a:rPr lang="en-US" sz="2200" b="1" dirty="0">
                <a:solidFill>
                  <a:srgbClr val="131313"/>
                </a:solidFill>
                <a:latin typeface="Archivo" pitchFamily="34" charset="0"/>
                <a:ea typeface="Archivo" pitchFamily="34" charset="-122"/>
                <a:cs typeface="Archivo" pitchFamily="34" charset="-120"/>
              </a:rPr>
              <a:t>P(delay) = P(D &gt; 1 − w) · q ≤ 0.5%</a:t>
            </a:r>
            <a:endParaRPr lang="en-US" sz="2200" dirty="0"/>
          </a:p>
        </p:txBody>
      </p:sp>
      <p:sp>
        <p:nvSpPr>
          <p:cNvPr id="5" name="Text 3"/>
          <p:cNvSpPr/>
          <p:nvPr/>
        </p:nvSpPr>
        <p:spPr>
          <a:xfrm>
            <a:off x="812800" y="3494881"/>
            <a:ext cx="525856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5433D"/>
                </a:solidFill>
                <a:latin typeface="Archivo" pitchFamily="34" charset="0"/>
                <a:ea typeface="Archivo" pitchFamily="34" charset="-122"/>
                <a:cs typeface="Archivo" pitchFamily="34" charset="-120"/>
              </a:rPr>
              <a:t>So the buffer is a quantile of the deduction distribution, like Value at Risk. Checked with a 2-million-lease Monte Carlo.</a:t>
            </a:r>
            <a:endParaRPr lang="en-US" sz="1400" dirty="0"/>
          </a:p>
        </p:txBody>
      </p:sp>
      <p:sp>
        <p:nvSpPr>
          <p:cNvPr id="6" name="Shape 4"/>
          <p:cNvSpPr/>
          <p:nvPr/>
        </p:nvSpPr>
        <p:spPr>
          <a:xfrm>
            <a:off x="6280150" y="1733550"/>
            <a:ext cx="5092700" cy="1729581"/>
          </a:xfrm>
          <a:prstGeom prst="roundRect">
            <a:avLst>
              <a:gd name="adj" fmla="val 8444"/>
            </a:avLst>
          </a:prstGeom>
          <a:solidFill>
            <a:srgbClr val="FFFFFF"/>
          </a:solidFill>
          <a:ln w="12700">
            <a:solidFill>
              <a:srgbClr val="131313"/>
            </a:solidFill>
            <a:prstDash val="solid"/>
          </a:ln>
        </p:spPr>
        <p:txBody>
          <a:bodyPr/>
          <a:p/>
        </p:txBody>
      </p:sp>
      <p:sp>
        <p:nvSpPr>
          <p:cNvPr id="7" name="Text 5"/>
          <p:cNvSpPr/>
          <p:nvPr/>
        </p:nvSpPr>
        <p:spPr>
          <a:xfrm>
            <a:off x="6540500" y="1993900"/>
            <a:ext cx="47091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433D"/>
                </a:solidFill>
                <a:latin typeface="Archivo" pitchFamily="34" charset="0"/>
                <a:ea typeface="Archivo" pitchFamily="34" charset="-122"/>
                <a:cs typeface="Archivo" pitchFamily="34" charset="-120"/>
              </a:rPr>
              <a:t>Without early unwind (q = 25%)</a:t>
            </a:r>
            <a:endParaRPr lang="en-US" sz="1400" dirty="0"/>
          </a:p>
        </p:txBody>
      </p:sp>
      <p:sp>
        <p:nvSpPr>
          <p:cNvPr id="8" name="Text 6"/>
          <p:cNvSpPr/>
          <p:nvPr/>
        </p:nvSpPr>
        <p:spPr>
          <a:xfrm>
            <a:off x="6540500" y="2293541"/>
            <a:ext cx="470916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31313"/>
                </a:solidFill>
                <a:latin typeface="Archivo" pitchFamily="34" charset="0"/>
                <a:ea typeface="Archivo" pitchFamily="34" charset="-122"/>
                <a:cs typeface="Archivo" pitchFamily="34" charset="-120"/>
              </a:rPr>
              <a:t>51%</a:t>
            </a:r>
            <a:endParaRPr lang="en-US" sz="4800" dirty="0"/>
          </a:p>
        </p:txBody>
      </p:sp>
      <p:sp>
        <p:nvSpPr>
          <p:cNvPr id="9" name="Text 7"/>
          <p:cNvSpPr/>
          <p:nvPr/>
        </p:nvSpPr>
        <p:spPr>
          <a:xfrm>
            <a:off x="6540500" y="2953941"/>
            <a:ext cx="47091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433D"/>
                </a:solidFill>
                <a:latin typeface="Archivo" pitchFamily="34" charset="0"/>
                <a:ea typeface="Archivo" pitchFamily="34" charset="-122"/>
                <a:cs typeface="Archivo" pitchFamily="34" charset="-120"/>
              </a:rPr>
              <a:t>safe share to invest</a:t>
            </a:r>
            <a:endParaRPr lang="en-US" sz="1400" dirty="0"/>
          </a:p>
        </p:txBody>
      </p:sp>
      <p:sp>
        <p:nvSpPr>
          <p:cNvPr id="10" name="Shape 8"/>
          <p:cNvSpPr/>
          <p:nvPr/>
        </p:nvSpPr>
        <p:spPr>
          <a:xfrm>
            <a:off x="6280150" y="3638550"/>
            <a:ext cx="5092700" cy="1729581"/>
          </a:xfrm>
          <a:prstGeom prst="roundRect">
            <a:avLst>
              <a:gd name="adj" fmla="val 8444"/>
            </a:avLst>
          </a:prstGeom>
          <a:solidFill>
            <a:srgbClr val="FDDA24"/>
          </a:solidFill>
          <a:ln w="12700">
            <a:solidFill>
              <a:srgbClr val="131313"/>
            </a:solidFill>
            <a:prstDash val="solid"/>
          </a:ln>
        </p:spPr>
        <p:txBody>
          <a:bodyPr/>
          <a:p/>
        </p:txBody>
      </p:sp>
      <p:sp>
        <p:nvSpPr>
          <p:cNvPr id="11" name="Text 9"/>
          <p:cNvSpPr/>
          <p:nvPr/>
        </p:nvSpPr>
        <p:spPr>
          <a:xfrm>
            <a:off x="6540500" y="3898900"/>
            <a:ext cx="47091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1313"/>
                </a:solidFill>
                <a:latin typeface="Archivo" pitchFamily="34" charset="0"/>
                <a:ea typeface="Archivo" pitchFamily="34" charset="-122"/>
                <a:cs typeface="Archivo" pitchFamily="34" charset="-120"/>
              </a:rPr>
              <a:t>With unwind() in the last 30 days (q = 2%)</a:t>
            </a:r>
            <a:endParaRPr lang="en-US" sz="1400" dirty="0"/>
          </a:p>
        </p:txBody>
      </p:sp>
      <p:sp>
        <p:nvSpPr>
          <p:cNvPr id="12" name="Text 10"/>
          <p:cNvSpPr/>
          <p:nvPr/>
        </p:nvSpPr>
        <p:spPr>
          <a:xfrm>
            <a:off x="6540500" y="4198541"/>
            <a:ext cx="470916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31313"/>
                </a:solidFill>
                <a:latin typeface="Archivo" pitchFamily="34" charset="0"/>
                <a:ea typeface="Archivo" pitchFamily="34" charset="-122"/>
                <a:cs typeface="Archivo" pitchFamily="34" charset="-120"/>
              </a:rPr>
              <a:t>80%</a:t>
            </a:r>
            <a:endParaRPr lang="en-US" sz="4800" dirty="0"/>
          </a:p>
        </p:txBody>
      </p:sp>
      <p:sp>
        <p:nvSpPr>
          <p:cNvPr id="13" name="Text 11"/>
          <p:cNvSpPr/>
          <p:nvPr/>
        </p:nvSpPr>
        <p:spPr>
          <a:xfrm>
            <a:off x="6540500" y="4858941"/>
            <a:ext cx="47091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1313"/>
                </a:solidFill>
                <a:latin typeface="Archivo" pitchFamily="34" charset="0"/>
                <a:ea typeface="Archivo" pitchFamily="34" charset="-122"/>
                <a:cs typeface="Archivo" pitchFamily="34" charset="-120"/>
              </a:rPr>
              <a:t>safe share: about 60% more yield, same risk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143000"/>
          </a:xfrm>
          <a:prstGeom prst="rect">
            <a:avLst/>
          </a:prstGeom>
          <a:noFill/>
          <a:ln/>
        </p:spPr>
        <p:txBody>
          <a:bodyPr wrap="square" lIns="0" tIns="0" rIns="0" bIns="0" rtlCol="0" anchor="t">
            <a:normAutofit/>
          </a:bodyPr>
          <a:lstStyle/>
          <a:p>
            <a:pPr algn="l" indent="0" marL="0">
              <a:lnSpc>
                <a:spcPts val="4400"/>
              </a:lnSpc>
              <a:buNone/>
            </a:pPr>
            <a:r>
              <a:rPr lang="en-US" sz="4000" b="1" i="0" spc="-50" kern="0" dirty="0">
                <a:solidFill>
                  <a:srgbClr val="131313"/>
                </a:solidFill>
                <a:latin typeface="Archivo" pitchFamily="34" charset="0"/>
                <a:ea typeface="Archivo" pitchFamily="34" charset="-122"/>
                <a:cs typeface="Archivo" pitchFamily="34" charset="-120"/>
              </a:rPr>
              <a:t>DeFindex: a reserve the risk model manages</a:t>
            </a:r>
            <a:endParaRPr lang="en-US" sz="4000" dirty="0"/>
          </a:p>
        </p:txBody>
      </p:sp>
      <p:sp>
        <p:nvSpPr>
          <p:cNvPr id="3" name="Shape 1"/>
          <p:cNvSpPr/>
          <p:nvPr/>
        </p:nvSpPr>
        <p:spPr>
          <a:xfrm>
            <a:off x="819150" y="2292350"/>
            <a:ext cx="3373934" cy="2227263"/>
          </a:xfrm>
          <a:prstGeom prst="roundRect">
            <a:avLst>
              <a:gd name="adj" fmla="val 6557"/>
            </a:avLst>
          </a:prstGeom>
          <a:solidFill>
            <a:srgbClr val="FFFFFF"/>
          </a:solidFill>
          <a:ln w="12700">
            <a:solidFill>
              <a:srgbClr val="131313"/>
            </a:solidFill>
            <a:prstDash val="solid"/>
          </a:ln>
        </p:spPr>
        <p:txBody>
          <a:bodyPr/>
          <a:p/>
        </p:txBody>
      </p:sp>
      <p:sp>
        <p:nvSpPr>
          <p:cNvPr id="4" name="Text 2"/>
          <p:cNvSpPr/>
          <p:nvPr/>
        </p:nvSpPr>
        <p:spPr>
          <a:xfrm>
            <a:off x="1104900" y="2578100"/>
            <a:ext cx="288650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433D"/>
                </a:solidFill>
                <a:latin typeface="Archivo" pitchFamily="34" charset="0"/>
                <a:ea typeface="Archivo" pitchFamily="34" charset="-122"/>
                <a:cs typeface="Archivo" pitchFamily="34" charset="-120"/>
              </a:rPr>
              <a:t>Pool crowded</a:t>
            </a:r>
            <a:endParaRPr lang="en-US" sz="1400" dirty="0"/>
          </a:p>
        </p:txBody>
      </p:sp>
      <p:sp>
        <p:nvSpPr>
          <p:cNvPr id="5" name="Text 3"/>
          <p:cNvSpPr/>
          <p:nvPr/>
        </p:nvSpPr>
        <p:spPr>
          <a:xfrm>
            <a:off x="1104900" y="2928541"/>
            <a:ext cx="288650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31313"/>
                </a:solidFill>
                <a:latin typeface="Archivo" pitchFamily="34" charset="0"/>
                <a:ea typeface="Archivo" pitchFamily="34" charset="-122"/>
                <a:cs typeface="Archivo" pitchFamily="34" charset="-120"/>
              </a:rPr>
              <a:t>89.3%</a:t>
            </a:r>
            <a:endParaRPr lang="en-US" sz="3600" dirty="0"/>
          </a:p>
        </p:txBody>
      </p:sp>
      <p:sp>
        <p:nvSpPr>
          <p:cNvPr id="6" name="Text 4"/>
          <p:cNvSpPr/>
          <p:nvPr/>
        </p:nvSpPr>
        <p:spPr>
          <a:xfrm>
            <a:off x="1104900" y="3487341"/>
            <a:ext cx="2886507"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433D"/>
                </a:solidFill>
                <a:latin typeface="Archivo" pitchFamily="34" charset="0"/>
                <a:ea typeface="Archivo" pitchFamily="34" charset="-122"/>
                <a:cs typeface="Archivo" pitchFamily="34" charset="-120"/>
              </a:rPr>
              <a:t>Blend utilization read live → target 47% invested → </a:t>
            </a:r>
            <a:r>
              <a:rPr lang="en-US" sz="1400" b="1" dirty="0">
                <a:solidFill>
                  <a:srgbClr val="45433D"/>
                </a:solidFill>
                <a:latin typeface="Archivo" pitchFamily="34" charset="0"/>
                <a:ea typeface="Archivo" pitchFamily="34" charset="-122"/>
                <a:cs typeface="Archivo" pitchFamily="34" charset="-120"/>
              </a:rPr>
              <a:t>invest 18.80 USDC</a:t>
            </a:r>
            <a:endParaRPr lang="en-US" sz="1400" dirty="0"/>
          </a:p>
        </p:txBody>
      </p:sp>
      <p:sp>
        <p:nvSpPr>
          <p:cNvPr id="7" name="Shape 5"/>
          <p:cNvSpPr/>
          <p:nvPr/>
        </p:nvSpPr>
        <p:spPr>
          <a:xfrm>
            <a:off x="4408984" y="2292350"/>
            <a:ext cx="3373934" cy="2227263"/>
          </a:xfrm>
          <a:prstGeom prst="roundRect">
            <a:avLst>
              <a:gd name="adj" fmla="val 6557"/>
            </a:avLst>
          </a:prstGeom>
          <a:solidFill>
            <a:srgbClr val="FFFFFF"/>
          </a:solidFill>
          <a:ln w="12700">
            <a:solidFill>
              <a:srgbClr val="131313"/>
            </a:solidFill>
            <a:prstDash val="solid"/>
          </a:ln>
        </p:spPr>
        <p:txBody>
          <a:bodyPr/>
          <a:p/>
        </p:txBody>
      </p:sp>
      <p:sp>
        <p:nvSpPr>
          <p:cNvPr id="8" name="Text 6"/>
          <p:cNvSpPr/>
          <p:nvPr/>
        </p:nvSpPr>
        <p:spPr>
          <a:xfrm>
            <a:off x="4694734" y="2578100"/>
            <a:ext cx="288650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433D"/>
                </a:solidFill>
                <a:latin typeface="Archivo" pitchFamily="34" charset="0"/>
                <a:ea typeface="Archivo" pitchFamily="34" charset="-122"/>
                <a:cs typeface="Archivo" pitchFamily="34" charset="-120"/>
              </a:rPr>
              <a:t>Move-out coming</a:t>
            </a:r>
            <a:endParaRPr lang="en-US" sz="1400" dirty="0"/>
          </a:p>
        </p:txBody>
      </p:sp>
      <p:sp>
        <p:nvSpPr>
          <p:cNvPr id="9" name="Text 7"/>
          <p:cNvSpPr/>
          <p:nvPr/>
        </p:nvSpPr>
        <p:spPr>
          <a:xfrm>
            <a:off x="4694734" y="2928541"/>
            <a:ext cx="288650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31313"/>
                </a:solidFill>
                <a:latin typeface="Archivo" pitchFamily="34" charset="0"/>
                <a:ea typeface="Archivo" pitchFamily="34" charset="-122"/>
                <a:cs typeface="Archivo" pitchFamily="34" charset="-120"/>
              </a:rPr>
              <a:t>10 days</a:t>
            </a:r>
            <a:endParaRPr lang="en-US" sz="3600" dirty="0"/>
          </a:p>
        </p:txBody>
      </p:sp>
      <p:sp>
        <p:nvSpPr>
          <p:cNvPr id="10" name="Text 8"/>
          <p:cNvSpPr/>
          <p:nvPr/>
        </p:nvSpPr>
        <p:spPr>
          <a:xfrm>
            <a:off x="4694734" y="3487341"/>
            <a:ext cx="288650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433D"/>
                </a:solidFill>
                <a:latin typeface="Archivo" pitchFamily="34" charset="0"/>
                <a:ea typeface="Archivo" pitchFamily="34" charset="-122"/>
                <a:cs typeface="Archivo" pitchFamily="34" charset="-120"/>
              </a:rPr>
              <a:t>Glide path → </a:t>
            </a:r>
            <a:r>
              <a:rPr lang="en-US" sz="1400" b="1" dirty="0">
                <a:solidFill>
                  <a:srgbClr val="45433D"/>
                </a:solidFill>
                <a:latin typeface="Archivo" pitchFamily="34" charset="0"/>
                <a:ea typeface="Archivo" pitchFamily="34" charset="-122"/>
                <a:cs typeface="Archivo" pitchFamily="34" charset="-120"/>
              </a:rPr>
              <a:t>unwind 18.80 USDC</a:t>
            </a:r>
            <a:r>
              <a:rPr lang="en-US" sz="1400" dirty="0">
                <a:solidFill>
                  <a:srgbClr val="45433D"/>
                </a:solidFill>
                <a:latin typeface="Archivo" pitchFamily="34" charset="0"/>
                <a:ea typeface="Archivo" pitchFamily="34" charset="-122"/>
                <a:cs typeface="Archivo" pitchFamily="34" charset="-120"/>
              </a:rPr>
              <a:t>, reserve back to 100% liquid</a:t>
            </a:r>
            <a:endParaRPr lang="en-US" sz="1400" dirty="0"/>
          </a:p>
        </p:txBody>
      </p:sp>
      <p:sp>
        <p:nvSpPr>
          <p:cNvPr id="11" name="Shape 9"/>
          <p:cNvSpPr/>
          <p:nvPr/>
        </p:nvSpPr>
        <p:spPr>
          <a:xfrm>
            <a:off x="7998817" y="2292350"/>
            <a:ext cx="3373934" cy="2227263"/>
          </a:xfrm>
          <a:prstGeom prst="roundRect">
            <a:avLst>
              <a:gd name="adj" fmla="val 6557"/>
            </a:avLst>
          </a:prstGeom>
          <a:solidFill>
            <a:srgbClr val="131313"/>
          </a:solidFill>
          <a:ln w="12700">
            <a:solidFill>
              <a:srgbClr val="131313"/>
            </a:solidFill>
            <a:prstDash val="solid"/>
          </a:ln>
        </p:spPr>
        <p:txBody>
          <a:bodyPr/>
          <a:p/>
        </p:txBody>
      </p:sp>
      <p:sp>
        <p:nvSpPr>
          <p:cNvPr id="12" name="Text 10"/>
          <p:cNvSpPr/>
          <p:nvPr/>
        </p:nvSpPr>
        <p:spPr>
          <a:xfrm>
            <a:off x="8284567" y="2578100"/>
            <a:ext cx="288650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DBAB0"/>
                </a:solidFill>
                <a:latin typeface="Archivo" pitchFamily="34" charset="0"/>
                <a:ea typeface="Archivo" pitchFamily="34" charset="-122"/>
                <a:cs typeface="Archivo" pitchFamily="34" charset="-120"/>
              </a:rPr>
              <a:t>Platform fee</a:t>
            </a:r>
            <a:endParaRPr lang="en-US" sz="1400" dirty="0"/>
          </a:p>
        </p:txBody>
      </p:sp>
      <p:sp>
        <p:nvSpPr>
          <p:cNvPr id="13" name="Text 11"/>
          <p:cNvSpPr/>
          <p:nvPr/>
        </p:nvSpPr>
        <p:spPr>
          <a:xfrm>
            <a:off x="8284567" y="2928541"/>
            <a:ext cx="288650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DDA24"/>
                </a:solidFill>
                <a:latin typeface="Archivo" pitchFamily="34" charset="0"/>
                <a:ea typeface="Archivo" pitchFamily="34" charset="-122"/>
                <a:cs typeface="Archivo" pitchFamily="34" charset="-120"/>
              </a:rPr>
              <a:t>1%</a:t>
            </a:r>
            <a:endParaRPr lang="en-US" sz="3600" dirty="0"/>
          </a:p>
        </p:txBody>
      </p:sp>
      <p:sp>
        <p:nvSpPr>
          <p:cNvPr id="14" name="Text 12"/>
          <p:cNvSpPr/>
          <p:nvPr/>
        </p:nvSpPr>
        <p:spPr>
          <a:xfrm>
            <a:off x="8284567" y="3487341"/>
            <a:ext cx="288650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EF"/>
                </a:solidFill>
                <a:latin typeface="Archivo" pitchFamily="34" charset="0"/>
                <a:ea typeface="Archivo" pitchFamily="34" charset="-122"/>
                <a:cs typeface="Archivo" pitchFamily="34" charset="-120"/>
              </a:rPr>
              <a:t>of the vault’s yield, on-chain (paused on testnet)</a:t>
            </a:r>
            <a:endParaRPr lang="en-US" sz="1400" dirty="0"/>
          </a:p>
        </p:txBody>
      </p:sp>
      <p:sp>
        <p:nvSpPr>
          <p:cNvPr id="15" name="Text 13"/>
          <p:cNvSpPr/>
          <p:nvPr/>
        </p:nvSpPr>
        <p:spPr>
          <a:xfrm>
            <a:off x="812800" y="4881563"/>
            <a:ext cx="1088339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5433D"/>
                </a:solidFill>
                <a:latin typeface="Archivo" pitchFamily="34" charset="0"/>
                <a:ea typeface="Archivo" pitchFamily="34" charset="-122"/>
                <a:cs typeface="Archivo" pitchFamily="34" charset="-120"/>
              </a:rPr>
              <a:t>Both moves executed on testnet by </a:t>
            </a:r>
            <a:r>
              <a:rPr lang="en-US" sz="1500" b="1" dirty="0">
                <a:solidFill>
                  <a:srgbClr val="45433D"/>
                </a:solidFill>
                <a:latin typeface="Archivo" pitchFamily="34" charset="0"/>
                <a:ea typeface="Archivo" pitchFamily="34" charset="-122"/>
                <a:cs typeface="Archivo" pitchFamily="34" charset="-120"/>
              </a:rPr>
              <a:t>rebalance.py</a:t>
            </a:r>
            <a:r>
              <a:rPr lang="en-US" sz="1500" dirty="0">
                <a:solidFill>
                  <a:srgbClr val="45433D"/>
                </a:solidFill>
                <a:latin typeface="Archivo" pitchFamily="34" charset="0"/>
                <a:ea typeface="Archivo" pitchFamily="34" charset="-122"/>
                <a:cs typeface="Archivo" pitchFamily="34" charset="-120"/>
              </a:rPr>
              <a:t> through the vault’s rebalance-manager role. On testnet the strategy is the same Blend pool: the value is the managed, shared reserve, not a second yield source.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spc="-50" kern="0" dirty="0">
                <a:solidFill>
                  <a:srgbClr val="131313"/>
                </a:solidFill>
                <a:latin typeface="Archivo" pitchFamily="34" charset="0"/>
                <a:ea typeface="Archivo" pitchFamily="34" charset="-122"/>
                <a:cs typeface="Archivo" pitchFamily="34" charset="-120"/>
              </a:rPr>
              <a:t>Built, tested and live on testnet</a:t>
            </a:r>
            <a:endParaRPr lang="en-US" sz="4000" dirty="0"/>
          </a:p>
        </p:txBody>
      </p:sp>
      <p:sp>
        <p:nvSpPr>
          <p:cNvPr id="3" name="Shape 1"/>
          <p:cNvSpPr/>
          <p:nvPr/>
        </p:nvSpPr>
        <p:spPr>
          <a:xfrm>
            <a:off x="819150" y="1784350"/>
            <a:ext cx="2495550" cy="2151063"/>
          </a:xfrm>
          <a:prstGeom prst="roundRect">
            <a:avLst>
              <a:gd name="adj" fmla="val 6790"/>
            </a:avLst>
          </a:prstGeom>
          <a:solidFill>
            <a:srgbClr val="FFFFFF"/>
          </a:solidFill>
          <a:ln w="12700">
            <a:solidFill>
              <a:srgbClr val="131313"/>
            </a:solidFill>
            <a:prstDash val="solid"/>
          </a:ln>
        </p:spPr>
        <p:txBody>
          <a:bodyPr/>
          <a:p/>
        </p:txBody>
      </p:sp>
      <p:sp>
        <p:nvSpPr>
          <p:cNvPr id="4" name="Text 2"/>
          <p:cNvSpPr/>
          <p:nvPr/>
        </p:nvSpPr>
        <p:spPr>
          <a:xfrm>
            <a:off x="1079500" y="2044700"/>
            <a:ext cx="2034095"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31313"/>
                </a:solidFill>
                <a:latin typeface="Archivo" pitchFamily="34" charset="0"/>
                <a:ea typeface="Archivo" pitchFamily="34" charset="-122"/>
                <a:cs typeface="Archivo" pitchFamily="34" charset="-120"/>
              </a:rPr>
              <a:t>48</a:t>
            </a:r>
            <a:endParaRPr lang="en-US" sz="4400" dirty="0"/>
          </a:p>
        </p:txBody>
      </p:sp>
      <p:sp>
        <p:nvSpPr>
          <p:cNvPr id="5" name="Text 3"/>
          <p:cNvSpPr/>
          <p:nvPr/>
        </p:nvSpPr>
        <p:spPr>
          <a:xfrm>
            <a:off x="1079500" y="2679700"/>
            <a:ext cx="203409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433D"/>
                </a:solidFill>
                <a:latin typeface="Archivo" pitchFamily="34" charset="0"/>
                <a:ea typeface="Archivo" pitchFamily="34" charset="-122"/>
                <a:cs typeface="Archivo" pitchFamily="34" charset="-120"/>
              </a:rPr>
              <a:t>unit tests, including real-auth and illiquid-venue cases</a:t>
            </a:r>
            <a:endParaRPr lang="en-US" sz="1400" dirty="0"/>
          </a:p>
        </p:txBody>
      </p:sp>
      <p:sp>
        <p:nvSpPr>
          <p:cNvPr id="6" name="Shape 4"/>
          <p:cNvSpPr/>
          <p:nvPr/>
        </p:nvSpPr>
        <p:spPr>
          <a:xfrm>
            <a:off x="3505200" y="1784350"/>
            <a:ext cx="2495550" cy="2151063"/>
          </a:xfrm>
          <a:prstGeom prst="roundRect">
            <a:avLst>
              <a:gd name="adj" fmla="val 6790"/>
            </a:avLst>
          </a:prstGeom>
          <a:solidFill>
            <a:srgbClr val="FFFFFF"/>
          </a:solidFill>
          <a:ln w="12700">
            <a:solidFill>
              <a:srgbClr val="131313"/>
            </a:solidFill>
            <a:prstDash val="solid"/>
          </a:ln>
        </p:spPr>
        <p:txBody>
          <a:bodyPr/>
          <a:p/>
        </p:txBody>
      </p:sp>
      <p:sp>
        <p:nvSpPr>
          <p:cNvPr id="7" name="Text 5"/>
          <p:cNvSpPr/>
          <p:nvPr/>
        </p:nvSpPr>
        <p:spPr>
          <a:xfrm>
            <a:off x="3765550" y="2044700"/>
            <a:ext cx="2034095"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31313"/>
                </a:solidFill>
                <a:latin typeface="Archivo" pitchFamily="34" charset="0"/>
                <a:ea typeface="Archivo" pitchFamily="34" charset="-122"/>
                <a:cs typeface="Archivo" pitchFamily="34" charset="-120"/>
              </a:rPr>
              <a:t>2</a:t>
            </a:r>
            <a:endParaRPr lang="en-US" sz="4400" dirty="0"/>
          </a:p>
        </p:txBody>
      </p:sp>
      <p:sp>
        <p:nvSpPr>
          <p:cNvPr id="8" name="Text 6"/>
          <p:cNvSpPr/>
          <p:nvPr/>
        </p:nvSpPr>
        <p:spPr>
          <a:xfrm>
            <a:off x="3765550" y="2679700"/>
            <a:ext cx="203409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433D"/>
                </a:solidFill>
                <a:latin typeface="Archivo" pitchFamily="34" charset="0"/>
                <a:ea typeface="Archivo" pitchFamily="34" charset="-122"/>
                <a:cs typeface="Archivo" pitchFamily="34" charset="-120"/>
              </a:rPr>
              <a:t>independent reviews; every finding fixed with a regression test</a:t>
            </a:r>
            <a:endParaRPr lang="en-US" sz="1400" dirty="0"/>
          </a:p>
        </p:txBody>
      </p:sp>
      <p:sp>
        <p:nvSpPr>
          <p:cNvPr id="9" name="Shape 7"/>
          <p:cNvSpPr/>
          <p:nvPr/>
        </p:nvSpPr>
        <p:spPr>
          <a:xfrm>
            <a:off x="6191250" y="1784350"/>
            <a:ext cx="2495550" cy="2151063"/>
          </a:xfrm>
          <a:prstGeom prst="roundRect">
            <a:avLst>
              <a:gd name="adj" fmla="val 6790"/>
            </a:avLst>
          </a:prstGeom>
          <a:solidFill>
            <a:srgbClr val="FFFFFF"/>
          </a:solidFill>
          <a:ln w="12700">
            <a:solidFill>
              <a:srgbClr val="131313"/>
            </a:solidFill>
            <a:prstDash val="solid"/>
          </a:ln>
        </p:spPr>
        <p:txBody>
          <a:bodyPr/>
          <a:p/>
        </p:txBody>
      </p:sp>
      <p:sp>
        <p:nvSpPr>
          <p:cNvPr id="10" name="Text 8"/>
          <p:cNvSpPr/>
          <p:nvPr/>
        </p:nvSpPr>
        <p:spPr>
          <a:xfrm>
            <a:off x="6451600" y="2044700"/>
            <a:ext cx="2034095"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31313"/>
                </a:solidFill>
                <a:latin typeface="Archivo" pitchFamily="34" charset="0"/>
                <a:ea typeface="Archivo" pitchFamily="34" charset="-122"/>
                <a:cs typeface="Archivo" pitchFamily="34" charset="-120"/>
              </a:rPr>
              <a:t>4</a:t>
            </a:r>
            <a:endParaRPr lang="en-US" sz="4400" dirty="0"/>
          </a:p>
        </p:txBody>
      </p:sp>
      <p:sp>
        <p:nvSpPr>
          <p:cNvPr id="11" name="Text 9"/>
          <p:cNvSpPr/>
          <p:nvPr/>
        </p:nvSpPr>
        <p:spPr>
          <a:xfrm>
            <a:off x="6451600" y="2679700"/>
            <a:ext cx="2034095"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433D"/>
                </a:solidFill>
                <a:latin typeface="Archivo" pitchFamily="34" charset="0"/>
                <a:ea typeface="Archivo" pitchFamily="34" charset="-122"/>
                <a:cs typeface="Archivo" pitchFamily="34" charset="-120"/>
              </a:rPr>
              <a:t>full flows on testnet: happy path, unwind, dispute + arbiter, Blend + DeFindex</a:t>
            </a:r>
            <a:endParaRPr lang="en-US" sz="1400" dirty="0"/>
          </a:p>
        </p:txBody>
      </p:sp>
      <p:sp>
        <p:nvSpPr>
          <p:cNvPr id="12" name="Shape 10"/>
          <p:cNvSpPr/>
          <p:nvPr/>
        </p:nvSpPr>
        <p:spPr>
          <a:xfrm>
            <a:off x="8877300" y="1784350"/>
            <a:ext cx="2495550" cy="2151063"/>
          </a:xfrm>
          <a:prstGeom prst="roundRect">
            <a:avLst>
              <a:gd name="adj" fmla="val 6790"/>
            </a:avLst>
          </a:prstGeom>
          <a:solidFill>
            <a:srgbClr val="FDDA24"/>
          </a:solidFill>
          <a:ln w="12700">
            <a:solidFill>
              <a:srgbClr val="131313"/>
            </a:solidFill>
            <a:prstDash val="solid"/>
          </a:ln>
        </p:spPr>
        <p:txBody>
          <a:bodyPr/>
          <a:p/>
        </p:txBody>
      </p:sp>
      <p:sp>
        <p:nvSpPr>
          <p:cNvPr id="13" name="Text 11"/>
          <p:cNvSpPr/>
          <p:nvPr/>
        </p:nvSpPr>
        <p:spPr>
          <a:xfrm>
            <a:off x="9137650" y="2044700"/>
            <a:ext cx="2034095"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31313"/>
                </a:solidFill>
                <a:latin typeface="Archivo" pitchFamily="34" charset="0"/>
                <a:ea typeface="Archivo" pitchFamily="34" charset="-122"/>
                <a:cs typeface="Archivo" pitchFamily="34" charset="-120"/>
              </a:rPr>
              <a:t>0.003</a:t>
            </a:r>
            <a:endParaRPr lang="en-US" sz="4400" dirty="0"/>
          </a:p>
        </p:txBody>
      </p:sp>
      <p:sp>
        <p:nvSpPr>
          <p:cNvPr id="14" name="Text 12"/>
          <p:cNvSpPr/>
          <p:nvPr/>
        </p:nvSpPr>
        <p:spPr>
          <a:xfrm>
            <a:off x="9137650" y="2679700"/>
            <a:ext cx="203409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1313"/>
                </a:solidFill>
                <a:latin typeface="Archivo" pitchFamily="34" charset="0"/>
                <a:ea typeface="Archivo" pitchFamily="34" charset="-122"/>
                <a:cs typeface="Archivo" pitchFamily="34" charset="-120"/>
              </a:rPr>
              <a:t>XLM per action, about a tenth of a cent</a:t>
            </a:r>
            <a:endParaRPr lang="en-US" sz="1400" dirty="0"/>
          </a:p>
        </p:txBody>
      </p:sp>
      <p:sp>
        <p:nvSpPr>
          <p:cNvPr id="15" name="Text 13"/>
          <p:cNvSpPr/>
          <p:nvPr/>
        </p:nvSpPr>
        <p:spPr>
          <a:xfrm>
            <a:off x="812800" y="4348163"/>
            <a:ext cx="1088339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5433D"/>
                </a:solidFill>
                <a:latin typeface="Archivo" pitchFamily="34" charset="0"/>
                <a:ea typeface="Archivo" pitchFamily="34" charset="-122"/>
                <a:cs typeface="Archivo" pitchFamily="34" charset="-120"/>
              </a:rPr>
              <a:t>Nobody can hold the deposit hostage: timeouts for a silent landlord, tenant or arbiter, and a liquid buffer that pays the landlord first even if a venue is illiquid.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DA2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spc="-50" kern="0" dirty="0">
                <a:solidFill>
                  <a:srgbClr val="131313"/>
                </a:solidFill>
                <a:latin typeface="Archivo" pitchFamily="34" charset="0"/>
                <a:ea typeface="Archivo" pitchFamily="34" charset="-122"/>
                <a:cs typeface="Archivo" pitchFamily="34" charset="-120"/>
              </a:rPr>
              <a:t>Everyone gets something, only from yield</a:t>
            </a:r>
            <a:endParaRPr lang="en-US" sz="4000" dirty="0"/>
          </a:p>
        </p:txBody>
      </p:sp>
      <p:sp>
        <p:nvSpPr>
          <p:cNvPr id="3" name="Shape 1"/>
          <p:cNvSpPr/>
          <p:nvPr/>
        </p:nvSpPr>
        <p:spPr>
          <a:xfrm>
            <a:off x="819150" y="1784350"/>
            <a:ext cx="3373934" cy="2080022"/>
          </a:xfrm>
          <a:prstGeom prst="roundRect">
            <a:avLst>
              <a:gd name="adj" fmla="val 7022"/>
            </a:avLst>
          </a:prstGeom>
          <a:solidFill>
            <a:srgbClr val="F6F5EF"/>
          </a:solidFill>
          <a:ln w="12700">
            <a:solidFill>
              <a:srgbClr val="131313"/>
            </a:solidFill>
            <a:prstDash val="solid"/>
          </a:ln>
        </p:spPr>
        <p:txBody>
          <a:bodyPr/>
          <a:p/>
        </p:txBody>
      </p:sp>
      <p:sp>
        <p:nvSpPr>
          <p:cNvPr id="4" name="Text 2"/>
          <p:cNvSpPr/>
          <p:nvPr/>
        </p:nvSpPr>
        <p:spPr>
          <a:xfrm>
            <a:off x="1104900" y="2070100"/>
            <a:ext cx="28865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1313"/>
                </a:solidFill>
                <a:latin typeface="Archivo" pitchFamily="34" charset="0"/>
                <a:ea typeface="Archivo" pitchFamily="34" charset="-122"/>
                <a:cs typeface="Archivo" pitchFamily="34" charset="-120"/>
              </a:rPr>
              <a:t>Tenant</a:t>
            </a:r>
            <a:endParaRPr lang="en-US" sz="1400" dirty="0"/>
          </a:p>
        </p:txBody>
      </p:sp>
      <p:sp>
        <p:nvSpPr>
          <p:cNvPr id="5" name="Text 3"/>
          <p:cNvSpPr/>
          <p:nvPr/>
        </p:nvSpPr>
        <p:spPr>
          <a:xfrm>
            <a:off x="1104900" y="2420541"/>
            <a:ext cx="288650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31313"/>
                </a:solidFill>
                <a:latin typeface="Archivo" pitchFamily="34" charset="0"/>
                <a:ea typeface="Archivo" pitchFamily="34" charset="-122"/>
                <a:cs typeface="Archivo" pitchFamily="34" charset="-120"/>
              </a:rPr>
              <a:t>≥ 95%</a:t>
            </a:r>
            <a:endParaRPr lang="en-US" sz="4400" dirty="0"/>
          </a:p>
        </p:txBody>
      </p:sp>
      <p:sp>
        <p:nvSpPr>
          <p:cNvPr id="6" name="Text 4"/>
          <p:cNvSpPr/>
          <p:nvPr/>
        </p:nvSpPr>
        <p:spPr>
          <a:xfrm>
            <a:off x="1104900" y="3080941"/>
            <a:ext cx="288650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433D"/>
                </a:solidFill>
                <a:latin typeface="Archivo" pitchFamily="34" charset="0"/>
                <a:ea typeface="Archivo" pitchFamily="34" charset="-122"/>
                <a:cs typeface="Archivo" pitchFamily="34" charset="-120"/>
              </a:rPr>
              <a:t>of the yield, and the whole deposit minus agreed repairs</a:t>
            </a:r>
            <a:endParaRPr lang="en-US" sz="1400" dirty="0"/>
          </a:p>
        </p:txBody>
      </p:sp>
      <p:sp>
        <p:nvSpPr>
          <p:cNvPr id="7" name="Shape 5"/>
          <p:cNvSpPr/>
          <p:nvPr/>
        </p:nvSpPr>
        <p:spPr>
          <a:xfrm>
            <a:off x="4408984" y="1784350"/>
            <a:ext cx="3373934" cy="2080022"/>
          </a:xfrm>
          <a:prstGeom prst="roundRect">
            <a:avLst>
              <a:gd name="adj" fmla="val 7022"/>
            </a:avLst>
          </a:prstGeom>
          <a:solidFill>
            <a:srgbClr val="F6F5EF"/>
          </a:solidFill>
          <a:ln w="12700">
            <a:solidFill>
              <a:srgbClr val="131313"/>
            </a:solidFill>
            <a:prstDash val="solid"/>
          </a:ln>
        </p:spPr>
        <p:txBody>
          <a:bodyPr/>
          <a:p/>
        </p:txBody>
      </p:sp>
      <p:sp>
        <p:nvSpPr>
          <p:cNvPr id="8" name="Text 6"/>
          <p:cNvSpPr/>
          <p:nvPr/>
        </p:nvSpPr>
        <p:spPr>
          <a:xfrm>
            <a:off x="4694734" y="2070100"/>
            <a:ext cx="28865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1313"/>
                </a:solidFill>
                <a:latin typeface="Archivo" pitchFamily="34" charset="0"/>
                <a:ea typeface="Archivo" pitchFamily="34" charset="-122"/>
                <a:cs typeface="Archivo" pitchFamily="34" charset="-120"/>
              </a:rPr>
              <a:t>Landlord or agency</a:t>
            </a:r>
            <a:endParaRPr lang="en-US" sz="1400" dirty="0"/>
          </a:p>
        </p:txBody>
      </p:sp>
      <p:sp>
        <p:nvSpPr>
          <p:cNvPr id="9" name="Text 7"/>
          <p:cNvSpPr/>
          <p:nvPr/>
        </p:nvSpPr>
        <p:spPr>
          <a:xfrm>
            <a:off x="4694734" y="2420541"/>
            <a:ext cx="288650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31313"/>
                </a:solidFill>
                <a:latin typeface="Archivo" pitchFamily="34" charset="0"/>
                <a:ea typeface="Archivo" pitchFamily="34" charset="-122"/>
                <a:cs typeface="Archivo" pitchFamily="34" charset="-120"/>
              </a:rPr>
              <a:t>3%</a:t>
            </a:r>
            <a:endParaRPr lang="en-US" sz="4400" dirty="0"/>
          </a:p>
        </p:txBody>
      </p:sp>
      <p:sp>
        <p:nvSpPr>
          <p:cNvPr id="10" name="Text 8"/>
          <p:cNvSpPr/>
          <p:nvPr/>
        </p:nvSpPr>
        <p:spPr>
          <a:xfrm>
            <a:off x="4694734" y="3080941"/>
            <a:ext cx="288650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433D"/>
                </a:solidFill>
                <a:latin typeface="Archivo" pitchFamily="34" charset="0"/>
                <a:ea typeface="Archivo" pitchFamily="34" charset="-122"/>
                <a:cs typeface="Archivo" pitchFamily="34" charset="-120"/>
              </a:rPr>
              <a:t>of the yield by default, capped at 5%: the reason to offer it</a:t>
            </a:r>
            <a:endParaRPr lang="en-US" sz="1400" dirty="0"/>
          </a:p>
        </p:txBody>
      </p:sp>
      <p:sp>
        <p:nvSpPr>
          <p:cNvPr id="11" name="Shape 9"/>
          <p:cNvSpPr/>
          <p:nvPr/>
        </p:nvSpPr>
        <p:spPr>
          <a:xfrm>
            <a:off x="7998817" y="1784350"/>
            <a:ext cx="3373934" cy="2080022"/>
          </a:xfrm>
          <a:prstGeom prst="roundRect">
            <a:avLst>
              <a:gd name="adj" fmla="val 7022"/>
            </a:avLst>
          </a:prstGeom>
          <a:solidFill>
            <a:srgbClr val="131313"/>
          </a:solidFill>
          <a:ln w="12700">
            <a:solidFill>
              <a:srgbClr val="131313"/>
            </a:solidFill>
            <a:prstDash val="solid"/>
          </a:ln>
        </p:spPr>
        <p:txBody>
          <a:bodyPr/>
          <a:p/>
        </p:txBody>
      </p:sp>
      <p:sp>
        <p:nvSpPr>
          <p:cNvPr id="12" name="Text 10"/>
          <p:cNvSpPr/>
          <p:nvPr/>
        </p:nvSpPr>
        <p:spPr>
          <a:xfrm>
            <a:off x="8284567" y="2070100"/>
            <a:ext cx="28865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DDA24"/>
                </a:solidFill>
                <a:latin typeface="Archivo" pitchFamily="34" charset="0"/>
                <a:ea typeface="Archivo" pitchFamily="34" charset="-122"/>
                <a:cs typeface="Archivo" pitchFamily="34" charset="-120"/>
              </a:rPr>
              <a:t>Blendlord</a:t>
            </a:r>
            <a:endParaRPr lang="en-US" sz="1400" dirty="0"/>
          </a:p>
        </p:txBody>
      </p:sp>
      <p:sp>
        <p:nvSpPr>
          <p:cNvPr id="13" name="Text 11"/>
          <p:cNvSpPr/>
          <p:nvPr/>
        </p:nvSpPr>
        <p:spPr>
          <a:xfrm>
            <a:off x="8284567" y="2420541"/>
            <a:ext cx="288650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DDA24"/>
                </a:solidFill>
                <a:latin typeface="Archivo" pitchFamily="34" charset="0"/>
                <a:ea typeface="Archivo" pitchFamily="34" charset="-122"/>
                <a:cs typeface="Archivo" pitchFamily="34" charset="-120"/>
              </a:rPr>
              <a:t>1%</a:t>
            </a:r>
            <a:endParaRPr lang="en-US" sz="4400" dirty="0"/>
          </a:p>
        </p:txBody>
      </p:sp>
      <p:sp>
        <p:nvSpPr>
          <p:cNvPr id="14" name="Text 12"/>
          <p:cNvSpPr/>
          <p:nvPr/>
        </p:nvSpPr>
        <p:spPr>
          <a:xfrm>
            <a:off x="8284567" y="3080941"/>
            <a:ext cx="288650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EF"/>
                </a:solidFill>
                <a:latin typeface="Archivo" pitchFamily="34" charset="0"/>
                <a:ea typeface="Archivo" pitchFamily="34" charset="-122"/>
                <a:cs typeface="Archivo" pitchFamily="34" charset="-120"/>
              </a:rPr>
              <a:t>fee on the reserve’s yield (paused on testnet)</a:t>
            </a:r>
            <a:endParaRPr lang="en-US" sz="1400" dirty="0"/>
          </a:p>
        </p:txBody>
      </p:sp>
      <p:sp>
        <p:nvSpPr>
          <p:cNvPr id="15" name="Text 13"/>
          <p:cNvSpPr/>
          <p:nvPr/>
        </p:nvSpPr>
        <p:spPr>
          <a:xfrm>
            <a:off x="812800" y="4277122"/>
            <a:ext cx="10883392"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31313"/>
                </a:solidFill>
                <a:latin typeface="Archivo" pitchFamily="34" charset="0"/>
                <a:ea typeface="Archivo" pitchFamily="34" charset="-122"/>
                <a:cs typeface="Archivo" pitchFamily="34" charset="-120"/>
              </a:rPr>
              <a:t>Go-to-market: letting agencies and student residences, which handle many deposits and pick the custody option for their tenants.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131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spc="-50" kern="0" dirty="0">
                <a:solidFill>
                  <a:srgbClr val="F6F5EF"/>
                </a:solidFill>
                <a:latin typeface="Archivo" pitchFamily="34" charset="0"/>
                <a:ea typeface="Archivo" pitchFamily="34" charset="-122"/>
                <a:cs typeface="Archivo" pitchFamily="34" charset="-120"/>
              </a:rPr>
              <a:t>Next</a:t>
            </a:r>
            <a:endParaRPr lang="en-US" sz="4000" dirty="0"/>
          </a:p>
        </p:txBody>
      </p:sp>
      <p:sp>
        <p:nvSpPr>
          <p:cNvPr id="3" name="Text 1"/>
          <p:cNvSpPr/>
          <p:nvPr/>
        </p:nvSpPr>
        <p:spPr>
          <a:xfrm>
            <a:off x="882396" y="1625600"/>
            <a:ext cx="10806176" cy="1406922"/>
          </a:xfrm>
          <a:prstGeom prst="rect">
            <a:avLst/>
          </a:prstGeom>
          <a:noFill/>
          <a:ln/>
        </p:spPr>
        <p:txBody>
          <a:bodyPr wrap="square" lIns="0" tIns="0" rIns="0" bIns="0" rtlCol="0" anchor="t">
            <a:normAutofit/>
          </a:bodyPr>
          <a:lstStyle/>
          <a:p>
            <a:pPr algn="l" marL="184404" indent="-184404">
              <a:lnSpc>
                <a:spcPts val="2720"/>
              </a:lnSpc>
              <a:buSzPct val="100000"/>
              <a:buChar char="•"/>
            </a:pPr>
            <a:r>
              <a:rPr lang="en-US" sz="1700" dirty="0">
                <a:solidFill>
                  <a:srgbClr val="BDBAB0"/>
                </a:solidFill>
                <a:latin typeface="Archivo" pitchFamily="34" charset="0"/>
                <a:ea typeface="Archivo" pitchFamily="34" charset="-122"/>
                <a:cs typeface="Archivo" pitchFamily="34" charset="-120"/>
              </a:rPr>
              <a:t>Factory contract with an allow-list of pools, vaults and assets</a:t>
            </a:r>
            <a:endParaRPr lang="en-US" sz="1700" dirty="0"/>
          </a:p>
          <a:p>
            <a:pPr algn="l" marL="184404" indent="-184404">
              <a:lnSpc>
                <a:spcPts val="2720"/>
              </a:lnSpc>
              <a:buSzPct val="100000"/>
              <a:buChar char="•"/>
            </a:pPr>
            <a:r>
              <a:rPr lang="en-US" sz="1700" dirty="0">
                <a:solidFill>
                  <a:srgbClr val="BDBAB0"/>
                </a:solidFill>
                <a:latin typeface="Archivo" pitchFamily="34" charset="0"/>
                <a:ea typeface="Archivo" pitchFamily="34" charset="-122"/>
                <a:cs typeface="Archivo" pitchFamily="34" charset="-120"/>
              </a:rPr>
              <a:t>Multi-strategy reserve, allocated with the same risk budget</a:t>
            </a:r>
            <a:endParaRPr lang="en-US" sz="1700" dirty="0"/>
          </a:p>
          <a:p>
            <a:pPr algn="l" marL="184404" indent="-184404">
              <a:lnSpc>
                <a:spcPts val="2720"/>
              </a:lnSpc>
              <a:buSzPct val="100000"/>
              <a:buChar char="•"/>
            </a:pPr>
            <a:r>
              <a:rPr lang="en-US" sz="1700" dirty="0">
                <a:solidFill>
                  <a:srgbClr val="BDBAB0"/>
                </a:solidFill>
                <a:latin typeface="Archivo" pitchFamily="34" charset="0"/>
                <a:ea typeface="Archivo" pitchFamily="34" charset="-122"/>
                <a:cs typeface="Archivo" pitchFamily="34" charset="-120"/>
              </a:rPr>
              <a:t>Calibrate the model with real deduction data from agencies</a:t>
            </a:r>
            <a:endParaRPr lang="en-US" sz="1700" dirty="0"/>
          </a:p>
          <a:p>
            <a:pPr algn="l" marL="184404" indent="-184404">
              <a:lnSpc>
                <a:spcPts val="2720"/>
              </a:lnSpc>
              <a:buSzPct val="100000"/>
              <a:buChar char="•"/>
            </a:pPr>
            <a:r>
              <a:rPr lang="en-US" sz="1700" dirty="0">
                <a:solidFill>
                  <a:srgbClr val="BDBAB0"/>
                </a:solidFill>
                <a:latin typeface="Archivo" pitchFamily="34" charset="0"/>
                <a:ea typeface="Archivo" pitchFamily="34" charset="-122"/>
                <a:cs typeface="Archivo" pitchFamily="34" charset="-120"/>
              </a:rPr>
              <a:t>Arbitration via multisig or a partner; custody on existing escrow rails</a:t>
            </a:r>
            <a:endParaRPr lang="en-US" sz="1700" dirty="0"/>
          </a:p>
        </p:txBody>
      </p:sp>
      <p:sp>
        <p:nvSpPr>
          <p:cNvPr id="4" name="Text 2"/>
          <p:cNvSpPr/>
          <p:nvPr/>
        </p:nvSpPr>
        <p:spPr>
          <a:xfrm>
            <a:off x="812800" y="5202039"/>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DDA24"/>
                </a:solidFill>
                <a:latin typeface="Archivo" pitchFamily="34" charset="0"/>
                <a:ea typeface="Archivo" pitchFamily="34" charset="-122"/>
                <a:cs typeface="Archivo" pitchFamily="34" charset="-120"/>
              </a:rPr>
              <a:t>Others hold deposits safely. We make them work.</a:t>
            </a:r>
            <a:endParaRPr lang="en-US" sz="3200" dirty="0"/>
          </a:p>
        </p:txBody>
      </p:sp>
      <p:sp>
        <p:nvSpPr>
          <p:cNvPr id="5" name="Text 3"/>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DBAB0"/>
                </a:solidFill>
                <a:latin typeface="Archivo" pitchFamily="34" charset="0"/>
                <a:ea typeface="Archivo" pitchFamily="34" charset="-122"/>
                <a:cs typeface="Archivo" pitchFamily="34" charset="-120"/>
              </a:rPr>
              <a:t>blendlord.netlify.app · github.com/ddortabencomo/yield-bearing-rental-deposit</a:t>
            </a:r>
            <a:endParaRPr lang="en-US" sz="1400" dirty="0"/>
          </a:p>
        </p:txBody>
      </p:sp>
    </p:spTree>
  </p:cSld>
  <p:clrMapOvr>
    <a:masterClrMapping/>
  </p:clrMapOvr>
</p:sld>
</file>

<file path=ppt/theme/theme1.xml><?xml version="1.0" encoding="utf-8"?>
<a:theme xmlns:a="http://schemas.openxmlformats.org/drawingml/2006/main" name="Blendlord · Yield-bearing rental deposits">
  <a:themeElements>
    <a:clrScheme name="Blendlord · Yield-bearing rental deposits">
      <a:dk1>
        <a:srgbClr val="131313"/>
      </a:dk1>
      <a:lt1>
        <a:srgbClr val="F6F5EF"/>
      </a:lt1>
      <a:dk2>
        <a:srgbClr val="4C4C4A"/>
      </a:dk2>
      <a:lt2>
        <a:srgbClr val="DFDED9"/>
      </a:lt2>
      <a:accent1>
        <a:srgbClr val="FDDA24"/>
      </a:accent1>
      <a:accent2>
        <a:srgbClr val="45433D"/>
      </a:accent2>
      <a:accent3>
        <a:srgbClr val="BDBAB0"/>
      </a:accent3>
      <a:accent4>
        <a:srgbClr val="9AA0A6"/>
      </a:accent4>
      <a:accent5>
        <a:srgbClr val="6E6D6B"/>
      </a:accent5>
      <a:accent6>
        <a:srgbClr val="908F8C"/>
      </a:accent6>
      <a:hlink>
        <a:srgbClr val="0563C1"/>
      </a:hlink>
      <a:folHlink>
        <a:srgbClr val="954F72"/>
      </a:folHlink>
    </a:clrScheme>
    <a:fontScheme name="Blendlord · Yield-bearing rental deposits">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chiv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Blendlord · Yield-bearing rental deposits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Archivo
Copyright 2020 The Archivo Project Authors (https://github.com/Omnibus-Type/Archivo)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2026-10-25T23:27:24Z</dcterms:created>
  <dcterms:modified xsi:type="dcterms:W3CDTF">2026-10-25T23:27:24Z</dcterms:modified>
</cp:coreProperties>
</file>